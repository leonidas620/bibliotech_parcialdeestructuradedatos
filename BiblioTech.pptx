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78fac199-ee30-67dc-8300-0a901e2a71ad}">
          <p14:sldIdLst>
            <p14:sldId id="256"/>
            <p14:sldId id="257"/>
            <p14:sldId id="258"/>
          </p14:sldIdLst>
        </p14:section>
        <p14:section name="Métodos" id="{575dd915-34d2-583d-d64e-e8376825fc4e}">
          <p14:sldIdLst>
            <p14:sldId id="259"/>
            <p14:sldId id="260"/>
            <p14:sldId id="261"/>
            <p14:sldId id="262"/>
            <p14:sldId id="263"/>
          </p14:sldIdLst>
        </p14:section>
        <p14:section name="Cierre" id="{9334bab8-690d-fb31-b935-bf2741c9d540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módulo BiblioTech (Equipo 4, estructura ArrayList). Vamos a explicar cada uno de los cinco métodos con el mismo ejemplo de cuatro libros, siempre en condiciones normales.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Modelado: ControlBiblioTech guarda un ArrayList&lt;Libro&gt; llamado prestamos. ArrayList&lt;T&gt; implementa la interfaz List&lt;T&gt; sobre un arreglo interno (datos) y un contador (cantidad); cuando se llena, duplica su capacidad. Cada Libro tiene código, nombre, categoría y días. Los cinco métodos del enunciado están en ControlBiblioTech.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ejemplo que usamos en todas las diapositivas: cuatro libros (L01 a L04). Internamente el ArrayList guarda los libros en un arreglo de 10 posiciones; 'cantidad' indica cuántas están ocupadas (4). Cada método empieza siempre desde este mismo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límite 20: L01 tiene 15 días y L02 tiene 8, no superan el límite. L03 (22) y L04 (30) sí lo superan, así que se guardan sus títulos en una nueva lista. La comparación es estricta: un libro con exactamente 20 días no está vencido.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categoría Ingeniería solo coinciden L01 (15 días) y L03 (22 días). La suma es 37 y hay 2 libros. El método devuelve un int, por eso 37 dividido entre 2 se entrega como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busca el código L02. L01 no coincide; L02 sí, así que a sus 8 días se le suman 7 y queda con 15. Los demás libros no cambian. El método devuelve true porque encontró el libro.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categoría Ingeniería se eliminan L01 y L03. Al quitar un libro, los siguientes se corren una posición a la izquierda; por eso el método hace i-- y vuelve a revisar esa posición, así no se salta ningún libro. Devuelve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empieza con L01 (15 días) como mejor. L02 tiene 8: no lo supera. L03 tiene 22 &gt; 15: pasa a ser el mejor. L04 tiene 30 &gt; 22: pasa a ser el mejor y es el que se devuelve.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los cinco métodos recorren el mismo ArrayList&lt;Libro&gt;. Cada uno aplica un patrón distinto: filtrar, acumular y dividir, buscar y modificar, recorrer y eliminar, y mantener el máximo.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59436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5577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BiblioTech  ·  Equipo 4  ·  Estructura de Datos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decorativo"/>
          <p:cNvSpPr/>
          <p:nvPr/>
        </p:nvSpPr>
        <p:spPr>
          <a:xfrm>
            <a:off x="6903720" y="685800"/>
            <a:ext cx="4736592" cy="5486400"/>
          </a:xfrm>
          <a:prstGeom prst="roundRect">
            <a:avLst>
              <a:gd name="adj" fmla="val 5792"/>
            </a:avLst>
          </a:prstGeom>
          <a:solidFill>
            <a:schemeClr val="accent4"/>
          </a:solidFill>
          <a:ln/>
        </p:spPr>
      </p:sp>
      <p:sp>
        <p:nvSpPr>
          <p:cNvPr id="3" name="Tarjeta L01"/>
          <p:cNvSpPr/>
          <p:nvPr/>
        </p:nvSpPr>
        <p:spPr>
          <a:xfrm>
            <a:off x="7223760" y="1005840"/>
            <a:ext cx="4096512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Codigo L01"/>
          <p:cNvSpPr txBox="1"/>
          <p:nvPr/>
        </p:nvSpPr>
        <p:spPr>
          <a:xfrm>
            <a:off x="7406640" y="1188720"/>
            <a:ext cx="685800" cy="685800"/>
          </a:xfrm>
          <a:prstGeom prst="roundRect">
            <a:avLst>
              <a:gd name="adj" fmla="val 18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L01</a:t>
            </a:r>
            <a:endParaRPr lang="en-US" sz="1700" dirty="0"/>
          </a:p>
        </p:txBody>
      </p:sp>
      <p:sp>
        <p:nvSpPr>
          <p:cNvPr id="5" name="Titulo L01"/>
          <p:cNvSpPr txBox="1"/>
          <p:nvPr/>
        </p:nvSpPr>
        <p:spPr>
          <a:xfrm>
            <a:off x="8275320" y="1161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Java a Fondo</a:t>
            </a:r>
            <a:endParaRPr lang="en-US" sz="1400" dirty="0"/>
          </a:p>
        </p:txBody>
      </p:sp>
      <p:sp>
        <p:nvSpPr>
          <p:cNvPr id="6" name="Categoria L01"/>
          <p:cNvSpPr txBox="1"/>
          <p:nvPr/>
        </p:nvSpPr>
        <p:spPr>
          <a:xfrm>
            <a:off x="827532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Ingeniería</a:t>
            </a:r>
            <a:endParaRPr lang="en-US" sz="1200" dirty="0"/>
          </a:p>
        </p:txBody>
      </p:sp>
      <p:sp>
        <p:nvSpPr>
          <p:cNvPr id="7" name="Dias L01"/>
          <p:cNvSpPr txBox="1"/>
          <p:nvPr/>
        </p:nvSpPr>
        <p:spPr>
          <a:xfrm>
            <a:off x="10469880" y="1188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15</a:t>
            </a:r>
            <a:endParaRPr lang="en-US" sz="2600" dirty="0"/>
          </a:p>
        </p:txBody>
      </p:sp>
      <p:sp>
        <p:nvSpPr>
          <p:cNvPr id="8" name="Etiqueta dias L01"/>
          <p:cNvSpPr txBox="1"/>
          <p:nvPr/>
        </p:nvSpPr>
        <p:spPr>
          <a:xfrm>
            <a:off x="1046988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días</a:t>
            </a:r>
            <a:endParaRPr lang="en-US" sz="1100" dirty="0"/>
          </a:p>
        </p:txBody>
      </p:sp>
      <p:sp>
        <p:nvSpPr>
          <p:cNvPr id="9" name="Tarjeta L02"/>
          <p:cNvSpPr/>
          <p:nvPr/>
        </p:nvSpPr>
        <p:spPr>
          <a:xfrm>
            <a:off x="7223760" y="2258568"/>
            <a:ext cx="4096512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Codigo L02"/>
          <p:cNvSpPr txBox="1"/>
          <p:nvPr/>
        </p:nvSpPr>
        <p:spPr>
          <a:xfrm>
            <a:off x="7406640" y="2441448"/>
            <a:ext cx="685800" cy="685800"/>
          </a:xfrm>
          <a:prstGeom prst="roundRect">
            <a:avLst>
              <a:gd name="adj" fmla="val 18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L02</a:t>
            </a:r>
            <a:endParaRPr lang="en-US" sz="1700" dirty="0"/>
          </a:p>
        </p:txBody>
      </p:sp>
      <p:sp>
        <p:nvSpPr>
          <p:cNvPr id="11" name="Titulo L02"/>
          <p:cNvSpPr txBox="1"/>
          <p:nvPr/>
        </p:nvSpPr>
        <p:spPr>
          <a:xfrm>
            <a:off x="8275320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Cien Años de Soledad</a:t>
            </a:r>
            <a:endParaRPr lang="en-US" sz="1400" dirty="0"/>
          </a:p>
        </p:txBody>
      </p:sp>
      <p:sp>
        <p:nvSpPr>
          <p:cNvPr id="12" name="Categoria L02"/>
          <p:cNvSpPr txBox="1"/>
          <p:nvPr/>
        </p:nvSpPr>
        <p:spPr>
          <a:xfrm>
            <a:off x="827532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Literatura</a:t>
            </a:r>
            <a:endParaRPr lang="en-US" sz="1200" dirty="0"/>
          </a:p>
        </p:txBody>
      </p:sp>
      <p:sp>
        <p:nvSpPr>
          <p:cNvPr id="13" name="Dias L02"/>
          <p:cNvSpPr txBox="1"/>
          <p:nvPr/>
        </p:nvSpPr>
        <p:spPr>
          <a:xfrm>
            <a:off x="10469880" y="24414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8</a:t>
            </a:r>
            <a:endParaRPr lang="en-US" sz="2600" dirty="0"/>
          </a:p>
        </p:txBody>
      </p:sp>
      <p:sp>
        <p:nvSpPr>
          <p:cNvPr id="14" name="Etiqueta dias L02"/>
          <p:cNvSpPr txBox="1"/>
          <p:nvPr/>
        </p:nvSpPr>
        <p:spPr>
          <a:xfrm>
            <a:off x="1046988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días</a:t>
            </a:r>
            <a:endParaRPr lang="en-US" sz="1100" dirty="0"/>
          </a:p>
        </p:txBody>
      </p:sp>
      <p:sp>
        <p:nvSpPr>
          <p:cNvPr id="15" name="Tarjeta L03"/>
          <p:cNvSpPr/>
          <p:nvPr/>
        </p:nvSpPr>
        <p:spPr>
          <a:xfrm>
            <a:off x="7223760" y="3511296"/>
            <a:ext cx="4096512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Codigo L03"/>
          <p:cNvSpPr txBox="1"/>
          <p:nvPr/>
        </p:nvSpPr>
        <p:spPr>
          <a:xfrm>
            <a:off x="7406640" y="3694176"/>
            <a:ext cx="685800" cy="685800"/>
          </a:xfrm>
          <a:prstGeom prst="roundRect">
            <a:avLst>
              <a:gd name="adj" fmla="val 18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L03</a:t>
            </a:r>
            <a:endParaRPr lang="en-US" sz="1700" dirty="0"/>
          </a:p>
        </p:txBody>
      </p:sp>
      <p:sp>
        <p:nvSpPr>
          <p:cNvPr id="17" name="Titulo L03"/>
          <p:cNvSpPr txBox="1"/>
          <p:nvPr/>
        </p:nvSpPr>
        <p:spPr>
          <a:xfrm>
            <a:off x="8275320" y="3666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Estructuras de Datos</a:t>
            </a:r>
            <a:endParaRPr lang="en-US" sz="1400" dirty="0"/>
          </a:p>
        </p:txBody>
      </p:sp>
      <p:sp>
        <p:nvSpPr>
          <p:cNvPr id="18" name="Categoria L03"/>
          <p:cNvSpPr txBox="1"/>
          <p:nvPr/>
        </p:nvSpPr>
        <p:spPr>
          <a:xfrm>
            <a:off x="8275320" y="4197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Ingeniería</a:t>
            </a:r>
            <a:endParaRPr lang="en-US" sz="1200" dirty="0"/>
          </a:p>
        </p:txBody>
      </p:sp>
      <p:sp>
        <p:nvSpPr>
          <p:cNvPr id="19" name="Dias L03"/>
          <p:cNvSpPr txBox="1"/>
          <p:nvPr/>
        </p:nvSpPr>
        <p:spPr>
          <a:xfrm>
            <a:off x="10469880" y="36941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22</a:t>
            </a:r>
            <a:endParaRPr lang="en-US" sz="2600" dirty="0"/>
          </a:p>
        </p:txBody>
      </p:sp>
      <p:sp>
        <p:nvSpPr>
          <p:cNvPr id="20" name="Etiqueta dias L03"/>
          <p:cNvSpPr txBox="1"/>
          <p:nvPr/>
        </p:nvSpPr>
        <p:spPr>
          <a:xfrm>
            <a:off x="10469880" y="41330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días</a:t>
            </a:r>
            <a:endParaRPr lang="en-US" sz="1100" dirty="0"/>
          </a:p>
        </p:txBody>
      </p:sp>
      <p:sp>
        <p:nvSpPr>
          <p:cNvPr id="21" name="Tarjeta L04"/>
          <p:cNvSpPr/>
          <p:nvPr/>
        </p:nvSpPr>
        <p:spPr>
          <a:xfrm>
            <a:off x="7223760" y="4764024"/>
            <a:ext cx="4096512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Codigo L04"/>
          <p:cNvSpPr txBox="1"/>
          <p:nvPr/>
        </p:nvSpPr>
        <p:spPr>
          <a:xfrm>
            <a:off x="7406640" y="4946904"/>
            <a:ext cx="685800" cy="685800"/>
          </a:xfrm>
          <a:prstGeom prst="roundRect">
            <a:avLst>
              <a:gd name="adj" fmla="val 18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L04</a:t>
            </a:r>
            <a:endParaRPr lang="en-US" sz="1700" dirty="0"/>
          </a:p>
        </p:txBody>
      </p:sp>
      <p:sp>
        <p:nvSpPr>
          <p:cNvPr id="23" name="Titulo L04"/>
          <p:cNvSpPr txBox="1"/>
          <p:nvPr/>
        </p:nvSpPr>
        <p:spPr>
          <a:xfrm>
            <a:off x="8275320" y="4919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Breve Historia Universal</a:t>
            </a:r>
            <a:endParaRPr lang="en-US" sz="1400" dirty="0"/>
          </a:p>
        </p:txBody>
      </p:sp>
      <p:sp>
        <p:nvSpPr>
          <p:cNvPr id="24" name="Categoria L04"/>
          <p:cNvSpPr txBox="1"/>
          <p:nvPr/>
        </p:nvSpPr>
        <p:spPr>
          <a:xfrm>
            <a:off x="8275320" y="54498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Historia</a:t>
            </a:r>
            <a:endParaRPr lang="en-US" sz="1200" dirty="0"/>
          </a:p>
        </p:txBody>
      </p:sp>
      <p:sp>
        <p:nvSpPr>
          <p:cNvPr id="25" name="Dias L04"/>
          <p:cNvSpPr txBox="1"/>
          <p:nvPr/>
        </p:nvSpPr>
        <p:spPr>
          <a:xfrm>
            <a:off x="10469880" y="49469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30</a:t>
            </a:r>
            <a:endParaRPr lang="en-US" sz="2600" dirty="0"/>
          </a:p>
        </p:txBody>
      </p:sp>
      <p:sp>
        <p:nvSpPr>
          <p:cNvPr id="26" name="Etiqueta dias L04"/>
          <p:cNvSpPr txBox="1"/>
          <p:nvPr/>
        </p:nvSpPr>
        <p:spPr>
          <a:xfrm>
            <a:off x="10469880" y="53858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días</a:t>
            </a:r>
            <a:endParaRPr lang="en-US" sz="1100" dirty="0"/>
          </a:p>
        </p:txBody>
      </p:sp>
      <p:sp>
        <p:nvSpPr>
          <p:cNvPr id="27" name="Etiqueta tema"/>
          <p:cNvSpPr txBox="1"/>
          <p:nvPr/>
        </p:nvSpPr>
        <p:spPr>
          <a:xfrm>
            <a:off x="640080" y="1554480"/>
            <a:ext cx="3429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ESTRUCTURA DE DATOS  ·  ARRAYLIST</a:t>
            </a:r>
            <a:endParaRPr lang="en-US" sz="1100" dirty="0"/>
          </a:p>
        </p:txBody>
      </p:sp>
      <p:sp>
        <p:nvSpPr>
          <p:cNvPr id="28" name="Text 0"/>
          <p:cNvSpPr/>
          <p:nvPr>
            <p:ph idx="100" type="title" hasCustomPrompt="1"/>
          </p:nvPr>
        </p:nvSpPr>
        <p:spPr>
          <a:xfrm>
            <a:off x="640080" y="219456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BiblioTech</a:t>
            </a:r>
            <a:endParaRPr lang="en-US" sz="66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640080" y="36118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Módulo de gestión de préstamos de la Biblioteca Universitaria</a:t>
            </a:r>
            <a:endParaRPr lang="en-US" sz="2200" dirty="0"/>
          </a:p>
        </p:txBody>
      </p:sp>
      <p:sp>
        <p:nvSpPr>
          <p:cNvPr id="30" name="Equipo"/>
          <p:cNvSpPr txBox="1"/>
          <p:nvPr/>
        </p:nvSpPr>
        <p:spPr>
          <a:xfrm>
            <a:off x="64008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Equipo 4</a:t>
            </a:r>
            <a:endParaRPr lang="en-US" sz="1800" dirty="0"/>
          </a:p>
        </p:txBody>
      </p:sp>
      <p:sp>
        <p:nvSpPr>
          <p:cNvPr id="31" name="Descripcion equipo"/>
          <p:cNvSpPr txBox="1"/>
          <p:nvPr/>
        </p:nvSpPr>
        <p:spPr>
          <a:xfrm>
            <a:off x="64008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Cada método explicado con un mismo ejemplo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DISEÑO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Modelado de la tarea</a:t>
            </a:r>
            <a:endParaRPr lang="en-US" sz="3600" dirty="0"/>
          </a:p>
        </p:txBody>
      </p:sp>
      <p:sp>
        <p:nvSpPr>
          <p:cNvPr id="4" name="Problematica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BiblioTech gestiona los préstamos de libros. De cada libro se registra código, título, categoría (Ingeniería, Historia, Literatura, Ciencias) y días de préstamo.</a:t>
            </a:r>
            <a:endParaRPr lang="en-US" sz="1600" dirty="0"/>
          </a:p>
        </p:txBody>
      </p:sp>
      <p:sp>
        <p:nvSpPr>
          <p:cNvPr id="5" name="Clase ControlBiblioTech"/>
          <p:cNvSpPr/>
          <p:nvPr/>
        </p:nvSpPr>
        <p:spPr>
          <a:xfrm>
            <a:off x="548640" y="3383280"/>
            <a:ext cx="365760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Clase ControlBiblioTech - cabecera"/>
          <p:cNvSpPr txBox="1"/>
          <p:nvPr/>
        </p:nvSpPr>
        <p:spPr>
          <a:xfrm>
            <a:off x="548640" y="3383280"/>
            <a:ext cx="3657600" cy="457200"/>
          </a:xfrm>
          <a:prstGeom prst="round2Same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ControlBiblioTech</a:t>
            </a:r>
            <a:endParaRPr lang="en-US" sz="1600" dirty="0"/>
          </a:p>
        </p:txBody>
      </p:sp>
      <p:sp>
        <p:nvSpPr>
          <p:cNvPr id="7" name="Atributos ControlBiblioTech"/>
          <p:cNvSpPr txBox="1"/>
          <p:nvPr/>
        </p:nvSpPr>
        <p:spPr>
          <a:xfrm>
            <a:off x="73152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prestamos : ArrayList&lt;Libro&gt;</a:t>
            </a:r>
            <a:endParaRPr lang="en-US" sz="1300" dirty="0"/>
          </a:p>
        </p:txBody>
      </p:sp>
      <p:sp>
        <p:nvSpPr>
          <p:cNvPr id="8" name="Divisor ControlBiblioTech"/>
          <p:cNvSpPr/>
          <p:nvPr/>
        </p:nvSpPr>
        <p:spPr>
          <a:xfrm>
            <a:off x="731520" y="4315968"/>
            <a:ext cx="3291840" cy="0"/>
          </a:xfrm>
          <a:prstGeom prst="line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9" name="Metodos ControlBiblioTech"/>
          <p:cNvSpPr txBox="1"/>
          <p:nvPr/>
        </p:nvSpPr>
        <p:spPr>
          <a:xfrm>
            <a:off x="731520" y="4434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librosVencidos(int)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promedioDiasPorCategoria(String)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renovarPrestamo(String, int)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EliminarLibrosPorCategoria(String)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buscarLibroConMAsDias()</a:t>
            </a:r>
            <a:endParaRPr lang="en-US" sz="1300" dirty="0"/>
          </a:p>
        </p:txBody>
      </p:sp>
      <p:sp>
        <p:nvSpPr>
          <p:cNvPr id="10" name="Interfaz List"/>
          <p:cNvSpPr/>
          <p:nvPr/>
        </p:nvSpPr>
        <p:spPr>
          <a:xfrm>
            <a:off x="5120640" y="2103120"/>
            <a:ext cx="269748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1" name="Estereotipo interfaz"/>
          <p:cNvSpPr txBox="1"/>
          <p:nvPr/>
        </p:nvSpPr>
        <p:spPr>
          <a:xfrm>
            <a:off x="5120640" y="21488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«interface»</a:t>
            </a:r>
            <a:endParaRPr lang="en-US" sz="1100" dirty="0"/>
          </a:p>
        </p:txBody>
      </p:sp>
      <p:sp>
        <p:nvSpPr>
          <p:cNvPr id="12" name="Nombre interfaz"/>
          <p:cNvSpPr txBox="1"/>
          <p:nvPr/>
        </p:nvSpPr>
        <p:spPr>
          <a:xfrm>
            <a:off x="5120640" y="2331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List&lt;T&gt;</a:t>
            </a:r>
            <a:endParaRPr lang="en-US" sz="1600" dirty="0"/>
          </a:p>
        </p:txBody>
      </p:sp>
      <p:sp>
        <p:nvSpPr>
          <p:cNvPr id="13" name="Metodos interfaz"/>
          <p:cNvSpPr txBox="1"/>
          <p:nvPr/>
        </p:nvSpPr>
        <p:spPr>
          <a:xfrm>
            <a:off x="5120640" y="26517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add · remove · get · size · clear · isEmpty</a:t>
            </a:r>
            <a:endParaRPr lang="en-US" sz="1100" dirty="0"/>
          </a:p>
        </p:txBody>
      </p:sp>
      <p:sp>
        <p:nvSpPr>
          <p:cNvPr id="14" name="Flecha implementa"/>
          <p:cNvSpPr/>
          <p:nvPr/>
        </p:nvSpPr>
        <p:spPr>
          <a:xfrm flipV="1">
            <a:off x="6469380" y="2926080"/>
            <a:ext cx="0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15" name="Etiqueta implementa"/>
          <p:cNvSpPr txBox="1"/>
          <p:nvPr/>
        </p:nvSpPr>
        <p:spPr>
          <a:xfrm>
            <a:off x="6583680" y="3063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implementa</a:t>
            </a:r>
            <a:endParaRPr lang="en-US" sz="1100" dirty="0"/>
          </a:p>
        </p:txBody>
      </p:sp>
      <p:sp>
        <p:nvSpPr>
          <p:cNvPr id="16" name="Clase ArrayList"/>
          <p:cNvSpPr/>
          <p:nvPr/>
        </p:nvSpPr>
        <p:spPr>
          <a:xfrm>
            <a:off x="5120640" y="3383280"/>
            <a:ext cx="269748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Clase ArrayList - cabecera"/>
          <p:cNvSpPr txBox="1"/>
          <p:nvPr/>
        </p:nvSpPr>
        <p:spPr>
          <a:xfrm>
            <a:off x="5120640" y="3383280"/>
            <a:ext cx="2697480" cy="457200"/>
          </a:xfrm>
          <a:prstGeom prst="round2Same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ArrayList&lt;T&gt;</a:t>
            </a:r>
            <a:endParaRPr lang="en-US" sz="1600" dirty="0"/>
          </a:p>
        </p:txBody>
      </p:sp>
      <p:sp>
        <p:nvSpPr>
          <p:cNvPr id="18" name="Atributos ArrayList"/>
          <p:cNvSpPr txBox="1"/>
          <p:nvPr/>
        </p:nvSpPr>
        <p:spPr>
          <a:xfrm>
            <a:off x="5285232" y="3931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datos : Object[]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cantidad : int</a:t>
            </a:r>
            <a:endParaRPr lang="en-US" sz="1300" dirty="0"/>
          </a:p>
        </p:txBody>
      </p:sp>
      <p:sp>
        <p:nvSpPr>
          <p:cNvPr id="19" name="Divisor ArrayList"/>
          <p:cNvSpPr/>
          <p:nvPr/>
        </p:nvSpPr>
        <p:spPr>
          <a:xfrm>
            <a:off x="5285232" y="4590288"/>
            <a:ext cx="2377440" cy="0"/>
          </a:xfrm>
          <a:prstGeom prst="line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20" name="Metodos ArrayList"/>
          <p:cNvSpPr txBox="1"/>
          <p:nvPr/>
        </p:nvSpPr>
        <p:spPr>
          <a:xfrm>
            <a:off x="5285232" y="468172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add(T) / add(T, int)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remove(int) : 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get(int) : 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+ size() · isEmpty() · clear()</a:t>
            </a:r>
            <a:endParaRPr lang="en-US" sz="1300" dirty="0"/>
          </a:p>
        </p:txBody>
      </p:sp>
      <p:sp>
        <p:nvSpPr>
          <p:cNvPr id="21" name="Nota capacidad"/>
          <p:cNvSpPr txBox="1"/>
          <p:nvPr/>
        </p:nvSpPr>
        <p:spPr>
          <a:xfrm>
            <a:off x="4480560" y="60167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Arreglo dinámico: capacidad inicial 10, se duplica al llenarse</a:t>
            </a:r>
            <a:endParaRPr lang="en-US" sz="1100" dirty="0"/>
          </a:p>
        </p:txBody>
      </p:sp>
      <p:sp>
        <p:nvSpPr>
          <p:cNvPr id="22" name="Clase Libro"/>
          <p:cNvSpPr/>
          <p:nvPr/>
        </p:nvSpPr>
        <p:spPr>
          <a:xfrm>
            <a:off x="8732520" y="3383280"/>
            <a:ext cx="2907792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Clase Libro - cabecera"/>
          <p:cNvSpPr txBox="1"/>
          <p:nvPr/>
        </p:nvSpPr>
        <p:spPr>
          <a:xfrm>
            <a:off x="8732520" y="3383280"/>
            <a:ext cx="2907792" cy="457200"/>
          </a:xfrm>
          <a:prstGeom prst="round2Same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Libro</a:t>
            </a:r>
            <a:endParaRPr lang="en-US" sz="1600" dirty="0"/>
          </a:p>
        </p:txBody>
      </p:sp>
      <p:sp>
        <p:nvSpPr>
          <p:cNvPr id="24" name="Atributos Libro"/>
          <p:cNvSpPr txBox="1"/>
          <p:nvPr/>
        </p:nvSpPr>
        <p:spPr>
          <a:xfrm>
            <a:off x="8915400" y="393192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cod : String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nombre : String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categoria : String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- dias : int</a:t>
            </a:r>
            <a:endParaRPr lang="en-US" sz="1300" dirty="0"/>
          </a:p>
        </p:txBody>
      </p:sp>
      <p:sp>
        <p:nvSpPr>
          <p:cNvPr id="25" name="Nota getters"/>
          <p:cNvSpPr txBox="1"/>
          <p:nvPr/>
        </p:nvSpPr>
        <p:spPr>
          <a:xfrm>
            <a:off x="8915400" y="5166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getters y setters</a:t>
            </a:r>
            <a:endParaRPr lang="en-US" sz="1100" dirty="0"/>
          </a:p>
        </p:txBody>
      </p:sp>
      <p:sp>
        <p:nvSpPr>
          <p:cNvPr id="26" name="Flecha tiene"/>
          <p:cNvSpPr/>
          <p:nvPr/>
        </p:nvSpPr>
        <p:spPr>
          <a:xfrm>
            <a:off x="4206240" y="4526280"/>
            <a:ext cx="9144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Etiqueta prestamos"/>
          <p:cNvSpPr txBox="1"/>
          <p:nvPr/>
        </p:nvSpPr>
        <p:spPr>
          <a:xfrm>
            <a:off x="4206240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prestamos</a:t>
            </a:r>
            <a:endParaRPr lang="en-US" sz="1100" dirty="0"/>
          </a:p>
        </p:txBody>
      </p:sp>
      <p:sp>
        <p:nvSpPr>
          <p:cNvPr id="28" name="Flecha contiene"/>
          <p:cNvSpPr/>
          <p:nvPr/>
        </p:nvSpPr>
        <p:spPr>
          <a:xfrm>
            <a:off x="7818120" y="4526280"/>
            <a:ext cx="9144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Etiqueta contiene"/>
          <p:cNvSpPr txBox="1"/>
          <p:nvPr/>
        </p:nvSpPr>
        <p:spPr>
          <a:xfrm>
            <a:off x="7818120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contiene</a:t>
            </a:r>
            <a:endParaRPr lang="en-US" sz="1100" dirty="0"/>
          </a:p>
        </p:txBody>
      </p:sp>
      <p:sp>
        <p:nvSpPr>
          <p:cNvPr id="30" name="Etiqueta multiplicidad"/>
          <p:cNvSpPr txBox="1"/>
          <p:nvPr/>
        </p:nvSpPr>
        <p:spPr>
          <a:xfrm>
            <a:off x="7818120" y="4590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0..n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DATOS DE PRUEBA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Nuestro ejemplo: el catálogo de 4 libros</a:t>
            </a:r>
            <a:endParaRPr lang="en-US" sz="3600" dirty="0"/>
          </a:p>
        </p:txBody>
      </p:sp>
      <p:sp>
        <p:nvSpPr>
          <p:cNvPr id="4" name="Tarjeta L01"/>
          <p:cNvSpPr/>
          <p:nvPr/>
        </p:nvSpPr>
        <p:spPr>
          <a:xfrm>
            <a:off x="548640" y="1554480"/>
            <a:ext cx="25603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5" name="Codigo L01"/>
          <p:cNvSpPr txBox="1"/>
          <p:nvPr/>
        </p:nvSpPr>
        <p:spPr>
          <a:xfrm>
            <a:off x="749808" y="1719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L01</a:t>
            </a:r>
            <a:endParaRPr lang="en-US" sz="2800" dirty="0"/>
          </a:p>
        </p:txBody>
      </p:sp>
      <p:sp>
        <p:nvSpPr>
          <p:cNvPr id="6" name="Indice L01"/>
          <p:cNvSpPr txBox="1"/>
          <p:nvPr/>
        </p:nvSpPr>
        <p:spPr>
          <a:xfrm>
            <a:off x="1920240" y="17739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índice 0</a:t>
            </a:r>
            <a:endParaRPr lang="en-US" sz="1200" dirty="0"/>
          </a:p>
        </p:txBody>
      </p:sp>
      <p:sp>
        <p:nvSpPr>
          <p:cNvPr id="7" name="Titulo L01"/>
          <p:cNvSpPr txBox="1"/>
          <p:nvPr/>
        </p:nvSpPr>
        <p:spPr>
          <a:xfrm>
            <a:off x="749808" y="226771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Java a Fondo</a:t>
            </a:r>
            <a:endParaRPr lang="en-US" sz="1600" dirty="0"/>
          </a:p>
        </p:txBody>
      </p:sp>
      <p:sp>
        <p:nvSpPr>
          <p:cNvPr id="8" name="Categoria L01"/>
          <p:cNvSpPr txBox="1"/>
          <p:nvPr/>
        </p:nvSpPr>
        <p:spPr>
          <a:xfrm>
            <a:off x="749808" y="2926080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Ingeniería</a:t>
            </a:r>
            <a:endParaRPr lang="en-US" sz="1200" dirty="0"/>
          </a:p>
        </p:txBody>
      </p:sp>
      <p:sp>
        <p:nvSpPr>
          <p:cNvPr id="9" name="Dias L01"/>
          <p:cNvSpPr txBox="1"/>
          <p:nvPr/>
        </p:nvSpPr>
        <p:spPr>
          <a:xfrm>
            <a:off x="749808" y="33101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días</a:t>
            </a:r>
            <a:endParaRPr lang="en-US" sz="1400" dirty="0"/>
          </a:p>
        </p:txBody>
      </p:sp>
      <p:sp>
        <p:nvSpPr>
          <p:cNvPr id="10" name="Pista barra L01"/>
          <p:cNvSpPr/>
          <p:nvPr/>
        </p:nvSpPr>
        <p:spPr>
          <a:xfrm>
            <a:off x="749808" y="3794760"/>
            <a:ext cx="2157984" cy="10972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11" name="Barra dias L01"/>
          <p:cNvSpPr/>
          <p:nvPr/>
        </p:nvSpPr>
        <p:spPr>
          <a:xfrm>
            <a:off x="749808" y="3794760"/>
            <a:ext cx="1078992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arjeta L02"/>
          <p:cNvSpPr/>
          <p:nvPr/>
        </p:nvSpPr>
        <p:spPr>
          <a:xfrm>
            <a:off x="3364992" y="1554480"/>
            <a:ext cx="25603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13" name="Codigo L02"/>
          <p:cNvSpPr txBox="1"/>
          <p:nvPr/>
        </p:nvSpPr>
        <p:spPr>
          <a:xfrm>
            <a:off x="3566160" y="1719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L02</a:t>
            </a:r>
            <a:endParaRPr lang="en-US" sz="2800" dirty="0"/>
          </a:p>
        </p:txBody>
      </p:sp>
      <p:sp>
        <p:nvSpPr>
          <p:cNvPr id="14" name="Indice L02"/>
          <p:cNvSpPr txBox="1"/>
          <p:nvPr/>
        </p:nvSpPr>
        <p:spPr>
          <a:xfrm>
            <a:off x="4736592" y="17739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índice 1</a:t>
            </a:r>
            <a:endParaRPr lang="en-US" sz="1200" dirty="0"/>
          </a:p>
        </p:txBody>
      </p:sp>
      <p:sp>
        <p:nvSpPr>
          <p:cNvPr id="15" name="Titulo L02"/>
          <p:cNvSpPr txBox="1"/>
          <p:nvPr/>
        </p:nvSpPr>
        <p:spPr>
          <a:xfrm>
            <a:off x="3566160" y="226771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Cien Años de Soledad</a:t>
            </a:r>
            <a:endParaRPr lang="en-US" sz="1600" dirty="0"/>
          </a:p>
        </p:txBody>
      </p:sp>
      <p:sp>
        <p:nvSpPr>
          <p:cNvPr id="16" name="Categoria L02"/>
          <p:cNvSpPr txBox="1"/>
          <p:nvPr/>
        </p:nvSpPr>
        <p:spPr>
          <a:xfrm>
            <a:off x="3566160" y="2926080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Literatura</a:t>
            </a:r>
            <a:endParaRPr lang="en-US" sz="1200" dirty="0"/>
          </a:p>
        </p:txBody>
      </p:sp>
      <p:sp>
        <p:nvSpPr>
          <p:cNvPr id="17" name="Dias L02"/>
          <p:cNvSpPr txBox="1"/>
          <p:nvPr/>
        </p:nvSpPr>
        <p:spPr>
          <a:xfrm>
            <a:off x="3566160" y="33101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días</a:t>
            </a:r>
            <a:endParaRPr lang="en-US" sz="1400" dirty="0"/>
          </a:p>
        </p:txBody>
      </p:sp>
      <p:sp>
        <p:nvSpPr>
          <p:cNvPr id="18" name="Pista barra L02"/>
          <p:cNvSpPr/>
          <p:nvPr/>
        </p:nvSpPr>
        <p:spPr>
          <a:xfrm>
            <a:off x="3566160" y="3794760"/>
            <a:ext cx="2157984" cy="10972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19" name="Barra dias L02"/>
          <p:cNvSpPr/>
          <p:nvPr/>
        </p:nvSpPr>
        <p:spPr>
          <a:xfrm>
            <a:off x="3566160" y="3794760"/>
            <a:ext cx="575462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arjeta L03"/>
          <p:cNvSpPr/>
          <p:nvPr/>
        </p:nvSpPr>
        <p:spPr>
          <a:xfrm>
            <a:off x="6181344" y="1554480"/>
            <a:ext cx="25603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21" name="Codigo L03"/>
          <p:cNvSpPr txBox="1"/>
          <p:nvPr/>
        </p:nvSpPr>
        <p:spPr>
          <a:xfrm>
            <a:off x="6382512" y="1719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L03</a:t>
            </a:r>
            <a:endParaRPr lang="en-US" sz="2800" dirty="0"/>
          </a:p>
        </p:txBody>
      </p:sp>
      <p:sp>
        <p:nvSpPr>
          <p:cNvPr id="22" name="Indice L03"/>
          <p:cNvSpPr txBox="1"/>
          <p:nvPr/>
        </p:nvSpPr>
        <p:spPr>
          <a:xfrm>
            <a:off x="7552944" y="17739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índice 2</a:t>
            </a:r>
            <a:endParaRPr lang="en-US" sz="1200" dirty="0"/>
          </a:p>
        </p:txBody>
      </p:sp>
      <p:sp>
        <p:nvSpPr>
          <p:cNvPr id="23" name="Titulo L03"/>
          <p:cNvSpPr txBox="1"/>
          <p:nvPr/>
        </p:nvSpPr>
        <p:spPr>
          <a:xfrm>
            <a:off x="6382512" y="226771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Estructuras de Datos</a:t>
            </a:r>
            <a:endParaRPr lang="en-US" sz="1600" dirty="0"/>
          </a:p>
        </p:txBody>
      </p:sp>
      <p:sp>
        <p:nvSpPr>
          <p:cNvPr id="24" name="Categoria L03"/>
          <p:cNvSpPr txBox="1"/>
          <p:nvPr/>
        </p:nvSpPr>
        <p:spPr>
          <a:xfrm>
            <a:off x="6382512" y="2926080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Ingeniería</a:t>
            </a:r>
            <a:endParaRPr lang="en-US" sz="1200" dirty="0"/>
          </a:p>
        </p:txBody>
      </p:sp>
      <p:sp>
        <p:nvSpPr>
          <p:cNvPr id="25" name="Dias L03"/>
          <p:cNvSpPr txBox="1"/>
          <p:nvPr/>
        </p:nvSpPr>
        <p:spPr>
          <a:xfrm>
            <a:off x="6382512" y="33101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22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días</a:t>
            </a:r>
            <a:endParaRPr lang="en-US" sz="1400" dirty="0"/>
          </a:p>
        </p:txBody>
      </p:sp>
      <p:sp>
        <p:nvSpPr>
          <p:cNvPr id="26" name="Pista barra L03"/>
          <p:cNvSpPr/>
          <p:nvPr/>
        </p:nvSpPr>
        <p:spPr>
          <a:xfrm>
            <a:off x="6382512" y="3794760"/>
            <a:ext cx="2157984" cy="10972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27" name="Barra dias L03"/>
          <p:cNvSpPr/>
          <p:nvPr/>
        </p:nvSpPr>
        <p:spPr>
          <a:xfrm>
            <a:off x="6382512" y="3794760"/>
            <a:ext cx="1582522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arjeta L04"/>
          <p:cNvSpPr/>
          <p:nvPr/>
        </p:nvSpPr>
        <p:spPr>
          <a:xfrm>
            <a:off x="8997696" y="1554480"/>
            <a:ext cx="25603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29" name="Codigo L04"/>
          <p:cNvSpPr txBox="1"/>
          <p:nvPr/>
        </p:nvSpPr>
        <p:spPr>
          <a:xfrm>
            <a:off x="9198864" y="1719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L04</a:t>
            </a:r>
            <a:endParaRPr lang="en-US" sz="2800" dirty="0"/>
          </a:p>
        </p:txBody>
      </p:sp>
      <p:sp>
        <p:nvSpPr>
          <p:cNvPr id="30" name="Indice L04"/>
          <p:cNvSpPr txBox="1"/>
          <p:nvPr/>
        </p:nvSpPr>
        <p:spPr>
          <a:xfrm>
            <a:off x="10369296" y="17739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índice 3</a:t>
            </a:r>
            <a:endParaRPr lang="en-US" sz="1200" dirty="0"/>
          </a:p>
        </p:txBody>
      </p:sp>
      <p:sp>
        <p:nvSpPr>
          <p:cNvPr id="31" name="Titulo L04"/>
          <p:cNvSpPr txBox="1"/>
          <p:nvPr/>
        </p:nvSpPr>
        <p:spPr>
          <a:xfrm>
            <a:off x="9198864" y="226771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Breve Historia Universal</a:t>
            </a:r>
            <a:endParaRPr lang="en-US" sz="1600" dirty="0"/>
          </a:p>
        </p:txBody>
      </p:sp>
      <p:sp>
        <p:nvSpPr>
          <p:cNvPr id="32" name="Categoria L04"/>
          <p:cNvSpPr txBox="1"/>
          <p:nvPr/>
        </p:nvSpPr>
        <p:spPr>
          <a:xfrm>
            <a:off x="9198864" y="2926080"/>
            <a:ext cx="1060704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Historia</a:t>
            </a:r>
            <a:endParaRPr lang="en-US" sz="1200" dirty="0"/>
          </a:p>
        </p:txBody>
      </p:sp>
      <p:sp>
        <p:nvSpPr>
          <p:cNvPr id="33" name="Dias L04"/>
          <p:cNvSpPr txBox="1"/>
          <p:nvPr/>
        </p:nvSpPr>
        <p:spPr>
          <a:xfrm>
            <a:off x="9198864" y="33101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30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días</a:t>
            </a:r>
            <a:endParaRPr lang="en-US" sz="1400" dirty="0"/>
          </a:p>
        </p:txBody>
      </p:sp>
      <p:sp>
        <p:nvSpPr>
          <p:cNvPr id="34" name="Pista barra L04"/>
          <p:cNvSpPr/>
          <p:nvPr/>
        </p:nvSpPr>
        <p:spPr>
          <a:xfrm>
            <a:off x="9198864" y="3794760"/>
            <a:ext cx="2157984" cy="109728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35" name="Barra dias L04"/>
          <p:cNvSpPr/>
          <p:nvPr/>
        </p:nvSpPr>
        <p:spPr>
          <a:xfrm>
            <a:off x="9198864" y="3794760"/>
            <a:ext cx="2157984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Subtitulo memoria"/>
          <p:cNvSpPr txBox="1"/>
          <p:nvPr/>
        </p:nvSpPr>
        <p:spPr>
          <a:xfrm>
            <a:off x="548640" y="4343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Así lo guarda el ArrayList por dentro:  prestamos.datos</a:t>
            </a:r>
            <a:endParaRPr lang="en-US" sz="1600" dirty="0"/>
          </a:p>
        </p:txBody>
      </p:sp>
      <p:sp>
        <p:nvSpPr>
          <p:cNvPr id="37" name="Etiqueta ocupadas"/>
          <p:cNvSpPr txBox="1"/>
          <p:nvPr/>
        </p:nvSpPr>
        <p:spPr>
          <a:xfrm>
            <a:off x="548640" y="4754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cantidad = 4  (posiciones ocupadas)</a:t>
            </a:r>
            <a:endParaRPr lang="en-US" sz="1200" dirty="0"/>
          </a:p>
        </p:txBody>
      </p:sp>
      <p:sp>
        <p:nvSpPr>
          <p:cNvPr id="38" name="Etiqueta libres"/>
          <p:cNvSpPr txBox="1"/>
          <p:nvPr/>
        </p:nvSpPr>
        <p:spPr>
          <a:xfrm>
            <a:off x="4754880" y="4754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 posiciones libres (null): al llenarse las 10, la capacidad se duplica</a:t>
            </a:r>
            <a:endParaRPr lang="en-US" sz="1200" dirty="0"/>
          </a:p>
        </p:txBody>
      </p:sp>
      <p:sp>
        <p:nvSpPr>
          <p:cNvPr id="39" name="Celda 0"/>
          <p:cNvSpPr txBox="1"/>
          <p:nvPr/>
        </p:nvSpPr>
        <p:spPr>
          <a:xfrm>
            <a:off x="548640" y="5074920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L01</a:t>
            </a:r>
            <a:endParaRPr lang="en-US" sz="1500" dirty="0"/>
          </a:p>
        </p:txBody>
      </p:sp>
      <p:sp>
        <p:nvSpPr>
          <p:cNvPr id="40" name="Indice celda 0"/>
          <p:cNvSpPr txBox="1"/>
          <p:nvPr/>
        </p:nvSpPr>
        <p:spPr>
          <a:xfrm>
            <a:off x="548640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</a:t>
            </a:r>
            <a:endParaRPr lang="en-US" sz="1100" dirty="0"/>
          </a:p>
        </p:txBody>
      </p:sp>
      <p:sp>
        <p:nvSpPr>
          <p:cNvPr id="41" name="Celda 1"/>
          <p:cNvSpPr txBox="1"/>
          <p:nvPr/>
        </p:nvSpPr>
        <p:spPr>
          <a:xfrm>
            <a:off x="1572768" y="5074920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L02</a:t>
            </a:r>
            <a:endParaRPr lang="en-US" sz="1500" dirty="0"/>
          </a:p>
        </p:txBody>
      </p:sp>
      <p:sp>
        <p:nvSpPr>
          <p:cNvPr id="42" name="Indice celda 1"/>
          <p:cNvSpPr txBox="1"/>
          <p:nvPr/>
        </p:nvSpPr>
        <p:spPr>
          <a:xfrm>
            <a:off x="1572768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</a:t>
            </a:r>
            <a:endParaRPr lang="en-US" sz="1100" dirty="0"/>
          </a:p>
        </p:txBody>
      </p:sp>
      <p:sp>
        <p:nvSpPr>
          <p:cNvPr id="43" name="Celda 2"/>
          <p:cNvSpPr txBox="1"/>
          <p:nvPr/>
        </p:nvSpPr>
        <p:spPr>
          <a:xfrm>
            <a:off x="2596896" y="5074920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L03</a:t>
            </a:r>
            <a:endParaRPr lang="en-US" sz="1500" dirty="0"/>
          </a:p>
        </p:txBody>
      </p:sp>
      <p:sp>
        <p:nvSpPr>
          <p:cNvPr id="44" name="Indice celda 2"/>
          <p:cNvSpPr txBox="1"/>
          <p:nvPr/>
        </p:nvSpPr>
        <p:spPr>
          <a:xfrm>
            <a:off x="2596896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</a:t>
            </a:r>
            <a:endParaRPr lang="en-US" sz="1100" dirty="0"/>
          </a:p>
        </p:txBody>
      </p:sp>
      <p:sp>
        <p:nvSpPr>
          <p:cNvPr id="45" name="Celda 3"/>
          <p:cNvSpPr txBox="1"/>
          <p:nvPr/>
        </p:nvSpPr>
        <p:spPr>
          <a:xfrm>
            <a:off x="3621024" y="5074920"/>
            <a:ext cx="9144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L04</a:t>
            </a:r>
            <a:endParaRPr lang="en-US" sz="1500" dirty="0"/>
          </a:p>
        </p:txBody>
      </p:sp>
      <p:sp>
        <p:nvSpPr>
          <p:cNvPr id="46" name="Indice celda 3"/>
          <p:cNvSpPr txBox="1"/>
          <p:nvPr/>
        </p:nvSpPr>
        <p:spPr>
          <a:xfrm>
            <a:off x="3621024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</a:t>
            </a:r>
            <a:endParaRPr lang="en-US" sz="1100" dirty="0"/>
          </a:p>
        </p:txBody>
      </p:sp>
      <p:sp>
        <p:nvSpPr>
          <p:cNvPr id="47" name="Celda 4"/>
          <p:cNvSpPr/>
          <p:nvPr/>
        </p:nvSpPr>
        <p:spPr>
          <a:xfrm>
            <a:off x="4645152" y="5074920"/>
            <a:ext cx="914400" cy="548640"/>
          </a:xfrm>
          <a:prstGeom prst="roundRect">
            <a:avLst>
              <a:gd name="adj" fmla="val 16667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48" name="Texto celda 4"/>
          <p:cNvSpPr txBox="1"/>
          <p:nvPr/>
        </p:nvSpPr>
        <p:spPr>
          <a:xfrm>
            <a:off x="4645152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null</a:t>
            </a:r>
            <a:endParaRPr lang="en-US" sz="1200" dirty="0"/>
          </a:p>
        </p:txBody>
      </p:sp>
      <p:sp>
        <p:nvSpPr>
          <p:cNvPr id="49" name="Indice celda 4"/>
          <p:cNvSpPr txBox="1"/>
          <p:nvPr/>
        </p:nvSpPr>
        <p:spPr>
          <a:xfrm>
            <a:off x="4645152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</a:t>
            </a:r>
            <a:endParaRPr lang="en-US" sz="1100" dirty="0"/>
          </a:p>
        </p:txBody>
      </p:sp>
      <p:sp>
        <p:nvSpPr>
          <p:cNvPr id="50" name="Celda 5"/>
          <p:cNvSpPr/>
          <p:nvPr/>
        </p:nvSpPr>
        <p:spPr>
          <a:xfrm>
            <a:off x="5669280" y="5074920"/>
            <a:ext cx="914400" cy="548640"/>
          </a:xfrm>
          <a:prstGeom prst="roundRect">
            <a:avLst>
              <a:gd name="adj" fmla="val 16667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51" name="Texto celda 5"/>
          <p:cNvSpPr txBox="1"/>
          <p:nvPr/>
        </p:nvSpPr>
        <p:spPr>
          <a:xfrm>
            <a:off x="5669280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null</a:t>
            </a:r>
            <a:endParaRPr lang="en-US" sz="1200" dirty="0"/>
          </a:p>
        </p:txBody>
      </p:sp>
      <p:sp>
        <p:nvSpPr>
          <p:cNvPr id="52" name="Indice celda 5"/>
          <p:cNvSpPr txBox="1"/>
          <p:nvPr/>
        </p:nvSpPr>
        <p:spPr>
          <a:xfrm>
            <a:off x="5669280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</a:t>
            </a:r>
            <a:endParaRPr lang="en-US" sz="1100" dirty="0"/>
          </a:p>
        </p:txBody>
      </p:sp>
      <p:sp>
        <p:nvSpPr>
          <p:cNvPr id="53" name="Celda 6"/>
          <p:cNvSpPr/>
          <p:nvPr/>
        </p:nvSpPr>
        <p:spPr>
          <a:xfrm>
            <a:off x="6693408" y="5074920"/>
            <a:ext cx="914400" cy="548640"/>
          </a:xfrm>
          <a:prstGeom prst="roundRect">
            <a:avLst>
              <a:gd name="adj" fmla="val 16667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54" name="Texto celda 6"/>
          <p:cNvSpPr txBox="1"/>
          <p:nvPr/>
        </p:nvSpPr>
        <p:spPr>
          <a:xfrm>
            <a:off x="6693408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null</a:t>
            </a:r>
            <a:endParaRPr lang="en-US" sz="1200" dirty="0"/>
          </a:p>
        </p:txBody>
      </p:sp>
      <p:sp>
        <p:nvSpPr>
          <p:cNvPr id="55" name="Indice celda 6"/>
          <p:cNvSpPr txBox="1"/>
          <p:nvPr/>
        </p:nvSpPr>
        <p:spPr>
          <a:xfrm>
            <a:off x="6693408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6</a:t>
            </a:r>
            <a:endParaRPr lang="en-US" sz="1100" dirty="0"/>
          </a:p>
        </p:txBody>
      </p:sp>
      <p:sp>
        <p:nvSpPr>
          <p:cNvPr id="56" name="Celda 7"/>
          <p:cNvSpPr/>
          <p:nvPr/>
        </p:nvSpPr>
        <p:spPr>
          <a:xfrm>
            <a:off x="7717536" y="5074920"/>
            <a:ext cx="914400" cy="548640"/>
          </a:xfrm>
          <a:prstGeom prst="roundRect">
            <a:avLst>
              <a:gd name="adj" fmla="val 16667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57" name="Texto celda 7"/>
          <p:cNvSpPr txBox="1"/>
          <p:nvPr/>
        </p:nvSpPr>
        <p:spPr>
          <a:xfrm>
            <a:off x="7717536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null</a:t>
            </a:r>
            <a:endParaRPr lang="en-US" sz="1200" dirty="0"/>
          </a:p>
        </p:txBody>
      </p:sp>
      <p:sp>
        <p:nvSpPr>
          <p:cNvPr id="58" name="Indice celda 7"/>
          <p:cNvSpPr txBox="1"/>
          <p:nvPr/>
        </p:nvSpPr>
        <p:spPr>
          <a:xfrm>
            <a:off x="7717536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7</a:t>
            </a:r>
            <a:endParaRPr lang="en-US" sz="1100" dirty="0"/>
          </a:p>
        </p:txBody>
      </p:sp>
      <p:sp>
        <p:nvSpPr>
          <p:cNvPr id="59" name="Celda 8"/>
          <p:cNvSpPr/>
          <p:nvPr/>
        </p:nvSpPr>
        <p:spPr>
          <a:xfrm>
            <a:off x="8741664" y="5074920"/>
            <a:ext cx="914400" cy="548640"/>
          </a:xfrm>
          <a:prstGeom prst="roundRect">
            <a:avLst>
              <a:gd name="adj" fmla="val 16667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60" name="Texto celda 8"/>
          <p:cNvSpPr txBox="1"/>
          <p:nvPr/>
        </p:nvSpPr>
        <p:spPr>
          <a:xfrm>
            <a:off x="8741664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null</a:t>
            </a:r>
            <a:endParaRPr lang="en-US" sz="1200" dirty="0"/>
          </a:p>
        </p:txBody>
      </p:sp>
      <p:sp>
        <p:nvSpPr>
          <p:cNvPr id="61" name="Indice celda 8"/>
          <p:cNvSpPr txBox="1"/>
          <p:nvPr/>
        </p:nvSpPr>
        <p:spPr>
          <a:xfrm>
            <a:off x="8741664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8</a:t>
            </a:r>
            <a:endParaRPr lang="en-US" sz="1100" dirty="0"/>
          </a:p>
        </p:txBody>
      </p:sp>
      <p:sp>
        <p:nvSpPr>
          <p:cNvPr id="62" name="Celda 9"/>
          <p:cNvSpPr/>
          <p:nvPr/>
        </p:nvSpPr>
        <p:spPr>
          <a:xfrm>
            <a:off x="9765792" y="5074920"/>
            <a:ext cx="914400" cy="548640"/>
          </a:xfrm>
          <a:prstGeom prst="roundRect">
            <a:avLst>
              <a:gd name="adj" fmla="val 16667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63" name="Texto celda 9"/>
          <p:cNvSpPr txBox="1"/>
          <p:nvPr/>
        </p:nvSpPr>
        <p:spPr>
          <a:xfrm>
            <a:off x="9765792" y="5074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null</a:t>
            </a:r>
            <a:endParaRPr lang="en-US" sz="1200" dirty="0"/>
          </a:p>
        </p:txBody>
      </p:sp>
      <p:sp>
        <p:nvSpPr>
          <p:cNvPr id="64" name="Indice celda 9"/>
          <p:cNvSpPr txBox="1"/>
          <p:nvPr/>
        </p:nvSpPr>
        <p:spPr>
          <a:xfrm>
            <a:off x="9765792" y="5669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INCISO A  ·  EMILY ELENA CONCHA MOREJON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Libros vencidos</a:t>
            </a:r>
            <a:endParaRPr lang="en-US" sz="3600" dirty="0"/>
          </a:p>
        </p:txBody>
      </p:sp>
      <p:sp>
        <p:nvSpPr>
          <p:cNvPr id="4" name="Firma del metodo"/>
          <p:cNvSpPr txBox="1"/>
          <p:nvPr/>
        </p:nvSpPr>
        <p:spPr>
          <a:xfrm>
            <a:off x="548640" y="1389888"/>
            <a:ext cx="32004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librosVencidos(int diasLimite)</a:t>
            </a:r>
            <a:endParaRPr lang="en-US" sz="1200" dirty="0"/>
          </a:p>
        </p:txBody>
      </p:sp>
      <p:sp>
        <p:nvSpPr>
          <p:cNvPr id="5" name="Descripcion"/>
          <p:cNvSpPr txBox="1"/>
          <p:nvPr/>
        </p:nvSpPr>
        <p:spPr>
          <a:xfrm>
            <a:off x="54864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Devuelve los títulos de los libros cuyos días de préstamo superan el límite indicado.</a:t>
            </a:r>
            <a:endParaRPr lang="en-US" sz="1600" dirty="0"/>
          </a:p>
        </p:txBody>
      </p:sp>
      <p:sp>
        <p:nvSpPr>
          <p:cNvPr id="6" name="Numero paso 1"/>
          <p:cNvSpPr txBox="1"/>
          <p:nvPr/>
        </p:nvSpPr>
        <p:spPr>
          <a:xfrm>
            <a:off x="548640" y="3017520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Paso 1"/>
          <p:cNvSpPr txBox="1"/>
          <p:nvPr/>
        </p:nvSpPr>
        <p:spPr>
          <a:xfrm>
            <a:off x="987552" y="299008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 una lista vacía para los títulos.</a:t>
            </a:r>
            <a:endParaRPr lang="en-US" sz="1400" dirty="0"/>
          </a:p>
        </p:txBody>
      </p:sp>
      <p:sp>
        <p:nvSpPr>
          <p:cNvPr id="8" name="Numero paso 2"/>
          <p:cNvSpPr txBox="1"/>
          <p:nvPr/>
        </p:nvSpPr>
        <p:spPr>
          <a:xfrm>
            <a:off x="548640" y="3648456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aso 2"/>
          <p:cNvSpPr txBox="1"/>
          <p:nvPr/>
        </p:nvSpPr>
        <p:spPr>
          <a:xfrm>
            <a:off x="987552" y="362102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el catálogo y compara: ¿días &gt; límite?</a:t>
            </a:r>
            <a:endParaRPr lang="en-US" sz="1400" dirty="0"/>
          </a:p>
        </p:txBody>
      </p:sp>
      <p:sp>
        <p:nvSpPr>
          <p:cNvPr id="10" name="Numero paso 3"/>
          <p:cNvSpPr txBox="1"/>
          <p:nvPr/>
        </p:nvSpPr>
        <p:spPr>
          <a:xfrm>
            <a:off x="548640" y="4279392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Paso 3"/>
          <p:cNvSpPr txBox="1"/>
          <p:nvPr/>
        </p:nvSpPr>
        <p:spPr>
          <a:xfrm>
            <a:off x="987552" y="42519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se supera, guarda el título de ese libro.</a:t>
            </a:r>
            <a:endParaRPr lang="en-US" sz="1400" dirty="0"/>
          </a:p>
        </p:txBody>
      </p:sp>
      <p:sp>
        <p:nvSpPr>
          <p:cNvPr id="12" name="Tarjeta resultado"/>
          <p:cNvSpPr/>
          <p:nvPr/>
        </p:nvSpPr>
        <p:spPr>
          <a:xfrm>
            <a:off x="548640" y="5138928"/>
            <a:ext cx="3931920" cy="1078992"/>
          </a:xfrm>
          <a:prstGeom prst="roundRect">
            <a:avLst>
              <a:gd name="adj" fmla="val 11864"/>
            </a:avLst>
          </a:prstGeom>
          <a:solidFill>
            <a:schemeClr val="tx2"/>
          </a:solidFill>
          <a:ln/>
        </p:spPr>
      </p:sp>
      <p:sp>
        <p:nvSpPr>
          <p:cNvPr id="13" name="Etiqueta resultado"/>
          <p:cNvSpPr txBox="1"/>
          <p:nvPr/>
        </p:nvSpPr>
        <p:spPr>
          <a:xfrm>
            <a:off x="749808" y="5212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RESULTADO CON EL EJEMPLO</a:t>
            </a:r>
            <a:endParaRPr lang="en-US" sz="1000" dirty="0"/>
          </a:p>
        </p:txBody>
      </p:sp>
      <p:sp>
        <p:nvSpPr>
          <p:cNvPr id="14" name="Llamada"/>
          <p:cNvSpPr txBox="1"/>
          <p:nvPr/>
        </p:nvSpPr>
        <p:spPr>
          <a:xfrm>
            <a:off x="749808" y="5422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librosVencidos(20)</a:t>
            </a:r>
            <a:endParaRPr lang="en-US" sz="1100" dirty="0"/>
          </a:p>
        </p:txBody>
      </p:sp>
      <p:sp>
        <p:nvSpPr>
          <p:cNvPr id="15" name="Valor devuelto"/>
          <p:cNvSpPr txBox="1"/>
          <p:nvPr/>
        </p:nvSpPr>
        <p:spPr>
          <a:xfrm>
            <a:off x="749808" y="5669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["Estructuras de Datos", "Breve Historia Universal"]</a:t>
            </a:r>
            <a:endParaRPr lang="en-US" sz="1400" dirty="0"/>
          </a:p>
        </p:txBody>
      </p:sp>
      <p:sp>
        <p:nvSpPr>
          <p:cNvPr id="16" name="Panel visual"/>
          <p:cNvSpPr/>
          <p:nvPr/>
        </p:nvSpPr>
        <p:spPr>
          <a:xfrm>
            <a:off x="4754880" y="2011680"/>
            <a:ext cx="6885432" cy="4206240"/>
          </a:xfrm>
          <a:prstGeom prst="roundRect">
            <a:avLst>
              <a:gd name="adj" fmla="val 3913"/>
            </a:avLst>
          </a:prstGeom>
          <a:solidFill>
            <a:schemeClr val="bg2"/>
          </a:solidFill>
          <a:ln/>
        </p:spPr>
      </p:sp>
      <p:sp>
        <p:nvSpPr>
          <p:cNvPr id="18" name="Linea limite"/>
          <p:cNvSpPr/>
          <p:nvPr/>
        </p:nvSpPr>
        <p:spPr>
          <a:xfrm>
            <a:off x="9525000" y="2633472"/>
            <a:ext cx="0" cy="24231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dash"/>
          </a:ln>
        </p:spPr>
      </p:sp>
      <p:sp>
        <p:nvSpPr>
          <p:cNvPr id="19" name="Etiqueta limite"/>
          <p:cNvSpPr txBox="1"/>
          <p:nvPr/>
        </p:nvSpPr>
        <p:spPr>
          <a:xfrm>
            <a:off x="8793480" y="228600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límite = 20 días</a:t>
            </a:r>
            <a:endParaRPr lang="en-US" sz="1200" dirty="0"/>
          </a:p>
        </p:txBody>
      </p:sp>
      <p:sp>
        <p:nvSpPr>
          <p:cNvPr id="20" name="Insignia L01"/>
          <p:cNvSpPr/>
          <p:nvPr/>
        </p:nvSpPr>
        <p:spPr>
          <a:xfrm>
            <a:off x="5029200" y="2807208"/>
            <a:ext cx="292608" cy="292608"/>
          </a:xfrm>
          <a:prstGeom prst="ellipse">
            <a:avLst/>
          </a:prstGeom>
          <a:solidFill>
            <a:schemeClr val="accent5">
              <a:alpha val="18000"/>
            </a:schemeClr>
          </a:solidFill>
          <a:ln/>
        </p:spPr>
      </p:sp>
      <p:pic>
        <p:nvPicPr>
          <p:cNvPr id="21" name="Image 0" descr="no supera el lím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2880360"/>
            <a:ext cx="146304" cy="146304"/>
          </a:xfrm>
          <a:prstGeom prst="rect">
            <a:avLst/>
          </a:prstGeom>
        </p:spPr>
      </p:pic>
      <p:sp>
        <p:nvSpPr>
          <p:cNvPr id="22" name="Codigo L01"/>
          <p:cNvSpPr txBox="1"/>
          <p:nvPr/>
        </p:nvSpPr>
        <p:spPr>
          <a:xfrm>
            <a:off x="5486400" y="2715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L01</a:t>
            </a:r>
            <a:endParaRPr lang="en-US" sz="1400" dirty="0"/>
          </a:p>
        </p:txBody>
      </p:sp>
      <p:sp>
        <p:nvSpPr>
          <p:cNvPr id="23" name="Titulo L01"/>
          <p:cNvSpPr txBox="1"/>
          <p:nvPr/>
        </p:nvSpPr>
        <p:spPr>
          <a:xfrm>
            <a:off x="5486400" y="2971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Java a Fondo</a:t>
            </a:r>
            <a:endParaRPr lang="en-US" sz="1100" dirty="0"/>
          </a:p>
        </p:txBody>
      </p:sp>
      <p:sp>
        <p:nvSpPr>
          <p:cNvPr id="24" name="Barra L01"/>
          <p:cNvSpPr/>
          <p:nvPr/>
        </p:nvSpPr>
        <p:spPr>
          <a:xfrm>
            <a:off x="7269480" y="2788920"/>
            <a:ext cx="1691640" cy="329184"/>
          </a:xfrm>
          <a:prstGeom prst="roundRect">
            <a:avLst>
              <a:gd name="adj" fmla="val 22222"/>
            </a:avLst>
          </a:prstGeom>
          <a:solidFill>
            <a:schemeClr val="accent5">
              <a:alpha val="30000"/>
            </a:schemeClr>
          </a:solidFill>
          <a:ln/>
        </p:spPr>
      </p:sp>
      <p:sp>
        <p:nvSpPr>
          <p:cNvPr id="25" name="Dias L01"/>
          <p:cNvSpPr txBox="1"/>
          <p:nvPr/>
        </p:nvSpPr>
        <p:spPr>
          <a:xfrm>
            <a:off x="9052560" y="27889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15</a:t>
            </a:r>
            <a:endParaRPr lang="en-US" sz="1400" dirty="0"/>
          </a:p>
        </p:txBody>
      </p:sp>
      <p:sp>
        <p:nvSpPr>
          <p:cNvPr id="26" name="Insignia L02"/>
          <p:cNvSpPr/>
          <p:nvPr/>
        </p:nvSpPr>
        <p:spPr>
          <a:xfrm>
            <a:off x="5029200" y="3410712"/>
            <a:ext cx="292608" cy="292608"/>
          </a:xfrm>
          <a:prstGeom prst="ellipse">
            <a:avLst/>
          </a:prstGeom>
          <a:solidFill>
            <a:schemeClr val="accent5">
              <a:alpha val="18000"/>
            </a:schemeClr>
          </a:solidFill>
          <a:ln/>
        </p:spPr>
      </p:sp>
      <p:pic>
        <p:nvPicPr>
          <p:cNvPr id="27" name="Image 1" descr="no supera el lím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3483864"/>
            <a:ext cx="146304" cy="146304"/>
          </a:xfrm>
          <a:prstGeom prst="rect">
            <a:avLst/>
          </a:prstGeom>
        </p:spPr>
      </p:pic>
      <p:sp>
        <p:nvSpPr>
          <p:cNvPr id="28" name="Codigo L02"/>
          <p:cNvSpPr txBox="1"/>
          <p:nvPr/>
        </p:nvSpPr>
        <p:spPr>
          <a:xfrm>
            <a:off x="5486400" y="3319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L02</a:t>
            </a:r>
            <a:endParaRPr lang="en-US" sz="1400" dirty="0"/>
          </a:p>
        </p:txBody>
      </p:sp>
      <p:sp>
        <p:nvSpPr>
          <p:cNvPr id="29" name="Titulo L02"/>
          <p:cNvSpPr txBox="1"/>
          <p:nvPr/>
        </p:nvSpPr>
        <p:spPr>
          <a:xfrm>
            <a:off x="5486400" y="35753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Cien Años de Soledad</a:t>
            </a:r>
            <a:endParaRPr lang="en-US" sz="1100" dirty="0"/>
          </a:p>
        </p:txBody>
      </p:sp>
      <p:sp>
        <p:nvSpPr>
          <p:cNvPr id="30" name="Barra L02"/>
          <p:cNvSpPr/>
          <p:nvPr/>
        </p:nvSpPr>
        <p:spPr>
          <a:xfrm>
            <a:off x="7269480" y="3392424"/>
            <a:ext cx="902208" cy="329184"/>
          </a:xfrm>
          <a:prstGeom prst="roundRect">
            <a:avLst>
              <a:gd name="adj" fmla="val 22222"/>
            </a:avLst>
          </a:prstGeom>
          <a:solidFill>
            <a:schemeClr val="accent5">
              <a:alpha val="30000"/>
            </a:schemeClr>
          </a:solidFill>
          <a:ln/>
        </p:spPr>
      </p:sp>
      <p:sp>
        <p:nvSpPr>
          <p:cNvPr id="31" name="Dias L02"/>
          <p:cNvSpPr txBox="1"/>
          <p:nvPr/>
        </p:nvSpPr>
        <p:spPr>
          <a:xfrm>
            <a:off x="8263128" y="33924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8</a:t>
            </a:r>
            <a:endParaRPr lang="en-US" sz="1400" dirty="0"/>
          </a:p>
        </p:txBody>
      </p:sp>
      <p:sp>
        <p:nvSpPr>
          <p:cNvPr id="32" name="Insignia L03"/>
          <p:cNvSpPr/>
          <p:nvPr/>
        </p:nvSpPr>
        <p:spPr>
          <a:xfrm>
            <a:off x="5029200" y="401421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2" descr="supera el lím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4087368"/>
            <a:ext cx="146304" cy="146304"/>
          </a:xfrm>
          <a:prstGeom prst="rect">
            <a:avLst/>
          </a:prstGeom>
        </p:spPr>
      </p:pic>
      <p:sp>
        <p:nvSpPr>
          <p:cNvPr id="34" name="Codigo L03"/>
          <p:cNvSpPr txBox="1"/>
          <p:nvPr/>
        </p:nvSpPr>
        <p:spPr>
          <a:xfrm>
            <a:off x="5486400" y="3922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L03</a:t>
            </a:r>
            <a:endParaRPr lang="en-US" sz="1400" dirty="0"/>
          </a:p>
        </p:txBody>
      </p:sp>
      <p:sp>
        <p:nvSpPr>
          <p:cNvPr id="35" name="Titulo L03"/>
          <p:cNvSpPr txBox="1"/>
          <p:nvPr/>
        </p:nvSpPr>
        <p:spPr>
          <a:xfrm>
            <a:off x="5486400" y="41788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Estructuras de Datos</a:t>
            </a:r>
            <a:endParaRPr lang="en-US" sz="1100" dirty="0"/>
          </a:p>
        </p:txBody>
      </p:sp>
      <p:sp>
        <p:nvSpPr>
          <p:cNvPr id="36" name="Barra L03"/>
          <p:cNvSpPr/>
          <p:nvPr/>
        </p:nvSpPr>
        <p:spPr>
          <a:xfrm>
            <a:off x="7269480" y="3995928"/>
            <a:ext cx="248107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37" name="Dias L03"/>
          <p:cNvSpPr txBox="1"/>
          <p:nvPr/>
        </p:nvSpPr>
        <p:spPr>
          <a:xfrm>
            <a:off x="9841992" y="39959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22</a:t>
            </a:r>
            <a:endParaRPr lang="en-US" sz="1400" dirty="0"/>
          </a:p>
        </p:txBody>
      </p:sp>
      <p:sp>
        <p:nvSpPr>
          <p:cNvPr id="38" name="Insignia L04"/>
          <p:cNvSpPr/>
          <p:nvPr/>
        </p:nvSpPr>
        <p:spPr>
          <a:xfrm>
            <a:off x="5029200" y="4617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mage 3" descr="supera el lími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4690872"/>
            <a:ext cx="146304" cy="146304"/>
          </a:xfrm>
          <a:prstGeom prst="rect">
            <a:avLst/>
          </a:prstGeom>
        </p:spPr>
      </p:pic>
      <p:sp>
        <p:nvSpPr>
          <p:cNvPr id="40" name="Codigo L04"/>
          <p:cNvSpPr txBox="1"/>
          <p:nvPr/>
        </p:nvSpPr>
        <p:spPr>
          <a:xfrm>
            <a:off x="5486400" y="4526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L04</a:t>
            </a:r>
            <a:endParaRPr lang="en-US" sz="1400" dirty="0"/>
          </a:p>
        </p:txBody>
      </p:sp>
      <p:sp>
        <p:nvSpPr>
          <p:cNvPr id="41" name="Titulo L04"/>
          <p:cNvSpPr txBox="1"/>
          <p:nvPr/>
        </p:nvSpPr>
        <p:spPr>
          <a:xfrm>
            <a:off x="5486400" y="47823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Breve Historia Universal</a:t>
            </a:r>
            <a:endParaRPr lang="en-US" sz="1100" dirty="0"/>
          </a:p>
        </p:txBody>
      </p:sp>
      <p:sp>
        <p:nvSpPr>
          <p:cNvPr id="42" name="Barra L04"/>
          <p:cNvSpPr/>
          <p:nvPr/>
        </p:nvSpPr>
        <p:spPr>
          <a:xfrm>
            <a:off x="7269480" y="4599432"/>
            <a:ext cx="338328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43" name="Dias L04"/>
          <p:cNvSpPr txBox="1"/>
          <p:nvPr/>
        </p:nvSpPr>
        <p:spPr>
          <a:xfrm>
            <a:off x="10744200" y="45994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30</a:t>
            </a:r>
            <a:endParaRPr lang="en-US" sz="1400" dirty="0"/>
          </a:p>
        </p:txBody>
      </p:sp>
      <p:sp>
        <p:nvSpPr>
          <p:cNvPr id="44" name="Etiqueta lista"/>
          <p:cNvSpPr txBox="1"/>
          <p:nvPr/>
        </p:nvSpPr>
        <p:spPr>
          <a:xfrm>
            <a:off x="5029200" y="52852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titulosVencidos</a:t>
            </a:r>
            <a:endParaRPr lang="en-US" sz="1200" dirty="0"/>
          </a:p>
        </p:txBody>
      </p:sp>
      <p:sp>
        <p:nvSpPr>
          <p:cNvPr id="45" name="Titulo resultado 1"/>
          <p:cNvSpPr txBox="1"/>
          <p:nvPr/>
        </p:nvSpPr>
        <p:spPr>
          <a:xfrm>
            <a:off x="6537960" y="5285232"/>
            <a:ext cx="214884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Estructuras de Datos</a:t>
            </a:r>
            <a:endParaRPr lang="en-US" sz="1300" dirty="0"/>
          </a:p>
        </p:txBody>
      </p:sp>
      <p:sp>
        <p:nvSpPr>
          <p:cNvPr id="46" name="Titulo resultado 2"/>
          <p:cNvSpPr txBox="1"/>
          <p:nvPr/>
        </p:nvSpPr>
        <p:spPr>
          <a:xfrm>
            <a:off x="8823960" y="5285232"/>
            <a:ext cx="25146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Breve Historia Universal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INCISO B  ·  DARIO RIVEROL HERRERA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Promedio de días por categoría</a:t>
            </a:r>
            <a:endParaRPr lang="en-US" sz="3600" dirty="0"/>
          </a:p>
        </p:txBody>
      </p:sp>
      <p:sp>
        <p:nvSpPr>
          <p:cNvPr id="4" name="Firma del metodo"/>
          <p:cNvSpPr txBox="1"/>
          <p:nvPr/>
        </p:nvSpPr>
        <p:spPr>
          <a:xfrm>
            <a:off x="548640" y="1389888"/>
            <a:ext cx="4297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promedioDiasPorCategoria(String categoria)</a:t>
            </a:r>
            <a:endParaRPr lang="en-US" sz="1200" dirty="0"/>
          </a:p>
        </p:txBody>
      </p:sp>
      <p:sp>
        <p:nvSpPr>
          <p:cNvPr id="5" name="Descripcion"/>
          <p:cNvSpPr txBox="1"/>
          <p:nvPr/>
        </p:nvSpPr>
        <p:spPr>
          <a:xfrm>
            <a:off x="54864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Calcula el promedio de días de préstamo de los libros de una categoría.</a:t>
            </a:r>
            <a:endParaRPr lang="en-US" sz="1600" dirty="0"/>
          </a:p>
        </p:txBody>
      </p:sp>
      <p:sp>
        <p:nvSpPr>
          <p:cNvPr id="6" name="Numero paso 1"/>
          <p:cNvSpPr txBox="1"/>
          <p:nvPr/>
        </p:nvSpPr>
        <p:spPr>
          <a:xfrm>
            <a:off x="548640" y="3017520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Paso 1"/>
          <p:cNvSpPr txBox="1"/>
          <p:nvPr/>
        </p:nvSpPr>
        <p:spPr>
          <a:xfrm>
            <a:off x="987552" y="299008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el catálogo y filtra por categoría.</a:t>
            </a:r>
            <a:endParaRPr lang="en-US" sz="1400" dirty="0"/>
          </a:p>
        </p:txBody>
      </p:sp>
      <p:sp>
        <p:nvSpPr>
          <p:cNvPr id="8" name="Numero paso 2"/>
          <p:cNvSpPr txBox="1"/>
          <p:nvPr/>
        </p:nvSpPr>
        <p:spPr>
          <a:xfrm>
            <a:off x="548640" y="3648456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aso 2"/>
          <p:cNvSpPr txBox="1"/>
          <p:nvPr/>
        </p:nvSpPr>
        <p:spPr>
          <a:xfrm>
            <a:off x="987552" y="362102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Suma los días y cuenta los libros que coinciden.</a:t>
            </a:r>
            <a:endParaRPr lang="en-US" sz="1400" dirty="0"/>
          </a:p>
        </p:txBody>
      </p:sp>
      <p:sp>
        <p:nvSpPr>
          <p:cNvPr id="10" name="Numero paso 3"/>
          <p:cNvSpPr txBox="1"/>
          <p:nvPr/>
        </p:nvSpPr>
        <p:spPr>
          <a:xfrm>
            <a:off x="548640" y="4279392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Paso 3"/>
          <p:cNvSpPr txBox="1"/>
          <p:nvPr/>
        </p:nvSpPr>
        <p:spPr>
          <a:xfrm>
            <a:off x="987552" y="42519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la suma entre la cantidad de libros.</a:t>
            </a:r>
            <a:endParaRPr lang="en-US" sz="1400" dirty="0"/>
          </a:p>
        </p:txBody>
      </p:sp>
      <p:sp>
        <p:nvSpPr>
          <p:cNvPr id="12" name="Tarjeta resultado"/>
          <p:cNvSpPr/>
          <p:nvPr/>
        </p:nvSpPr>
        <p:spPr>
          <a:xfrm>
            <a:off x="548640" y="5138928"/>
            <a:ext cx="3931920" cy="1078992"/>
          </a:xfrm>
          <a:prstGeom prst="roundRect">
            <a:avLst>
              <a:gd name="adj" fmla="val 11864"/>
            </a:avLst>
          </a:prstGeom>
          <a:solidFill>
            <a:schemeClr val="tx2"/>
          </a:solidFill>
          <a:ln/>
        </p:spPr>
      </p:sp>
      <p:sp>
        <p:nvSpPr>
          <p:cNvPr id="13" name="Etiqueta resultado"/>
          <p:cNvSpPr txBox="1"/>
          <p:nvPr/>
        </p:nvSpPr>
        <p:spPr>
          <a:xfrm>
            <a:off x="749808" y="5212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RESULTADO CON EL EJEMPLO</a:t>
            </a:r>
            <a:endParaRPr lang="en-US" sz="1000" dirty="0"/>
          </a:p>
        </p:txBody>
      </p:sp>
      <p:sp>
        <p:nvSpPr>
          <p:cNvPr id="14" name="Llamada"/>
          <p:cNvSpPr txBox="1"/>
          <p:nvPr/>
        </p:nvSpPr>
        <p:spPr>
          <a:xfrm>
            <a:off x="749808" y="5422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promedioDiasPorCategoria("Ingeniería")</a:t>
            </a:r>
            <a:endParaRPr lang="en-US" sz="1100" dirty="0"/>
          </a:p>
        </p:txBody>
      </p:sp>
      <p:sp>
        <p:nvSpPr>
          <p:cNvPr id="15" name="Valor devuelto"/>
          <p:cNvSpPr txBox="1"/>
          <p:nvPr/>
        </p:nvSpPr>
        <p:spPr>
          <a:xfrm>
            <a:off x="749808" y="5669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18   (37 / 2, división entera)</a:t>
            </a:r>
            <a:endParaRPr lang="en-US" sz="1400" dirty="0"/>
          </a:p>
        </p:txBody>
      </p:sp>
      <p:sp>
        <p:nvSpPr>
          <p:cNvPr id="16" name="Panel visual"/>
          <p:cNvSpPr/>
          <p:nvPr/>
        </p:nvSpPr>
        <p:spPr>
          <a:xfrm>
            <a:off x="4754880" y="2011680"/>
            <a:ext cx="6885432" cy="4206240"/>
          </a:xfrm>
          <a:prstGeom prst="roundRect">
            <a:avLst>
              <a:gd name="adj" fmla="val 3913"/>
            </a:avLst>
          </a:prstGeom>
          <a:solidFill>
            <a:schemeClr val="bg2"/>
          </a:solidFill>
          <a:ln/>
        </p:spPr>
      </p:sp>
      <p:sp>
        <p:nvSpPr>
          <p:cNvPr id="18" name="Etiqueta filtro"/>
          <p:cNvSpPr txBox="1"/>
          <p:nvPr/>
        </p:nvSpPr>
        <p:spPr>
          <a:xfrm>
            <a:off x="5029200" y="2240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Filtro:  categoría = "Ingeniería"</a:t>
            </a:r>
            <a:endParaRPr lang="en-US" sz="1300" dirty="0"/>
          </a:p>
        </p:txBody>
      </p:sp>
      <p:sp>
        <p:nvSpPr>
          <p:cNvPr id="19" name="Tarjeta L01"/>
          <p:cNvSpPr/>
          <p:nvPr/>
        </p:nvSpPr>
        <p:spPr>
          <a:xfrm>
            <a:off x="5029200" y="2606040"/>
            <a:ext cx="141732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Codigo L01"/>
          <p:cNvSpPr txBox="1"/>
          <p:nvPr/>
        </p:nvSpPr>
        <p:spPr>
          <a:xfrm>
            <a:off x="5166360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L01</a:t>
            </a:r>
            <a:endParaRPr lang="en-US" sz="1700" dirty="0"/>
          </a:p>
        </p:txBody>
      </p:sp>
      <p:sp>
        <p:nvSpPr>
          <p:cNvPr id="21" name="Categoria L01"/>
          <p:cNvSpPr txBox="1"/>
          <p:nvPr/>
        </p:nvSpPr>
        <p:spPr>
          <a:xfrm>
            <a:off x="5166360" y="3063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Ingeniería</a:t>
            </a:r>
            <a:endParaRPr lang="en-US" sz="1200" dirty="0"/>
          </a:p>
        </p:txBody>
      </p:sp>
      <p:sp>
        <p:nvSpPr>
          <p:cNvPr id="22" name="Dias L01"/>
          <p:cNvSpPr txBox="1"/>
          <p:nvPr/>
        </p:nvSpPr>
        <p:spPr>
          <a:xfrm>
            <a:off x="5166360" y="3374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 días</a:t>
            </a:r>
            <a:endParaRPr lang="en-US" sz="1500" dirty="0"/>
          </a:p>
        </p:txBody>
      </p:sp>
      <p:sp>
        <p:nvSpPr>
          <p:cNvPr id="23" name="Insignia L01"/>
          <p:cNvSpPr/>
          <p:nvPr/>
        </p:nvSpPr>
        <p:spPr>
          <a:xfrm>
            <a:off x="6080760" y="269748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0" descr="coinc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5624" y="2752344"/>
            <a:ext cx="146304" cy="146304"/>
          </a:xfrm>
          <a:prstGeom prst="rect">
            <a:avLst/>
          </a:prstGeom>
        </p:spPr>
      </p:pic>
      <p:sp>
        <p:nvSpPr>
          <p:cNvPr id="25" name="Tarjeta L02"/>
          <p:cNvSpPr/>
          <p:nvPr/>
        </p:nvSpPr>
        <p:spPr>
          <a:xfrm>
            <a:off x="6668719" y="2606040"/>
            <a:ext cx="1417320" cy="1188720"/>
          </a:xfrm>
          <a:prstGeom prst="roundRect">
            <a:avLst>
              <a:gd name="adj" fmla="val 10769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6" name="Codigo L02"/>
          <p:cNvSpPr txBox="1"/>
          <p:nvPr/>
        </p:nvSpPr>
        <p:spPr>
          <a:xfrm>
            <a:off x="6805879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L02</a:t>
            </a:r>
            <a:endParaRPr lang="en-US" sz="1700" dirty="0"/>
          </a:p>
        </p:txBody>
      </p:sp>
      <p:sp>
        <p:nvSpPr>
          <p:cNvPr id="27" name="Categoria L02"/>
          <p:cNvSpPr txBox="1"/>
          <p:nvPr/>
        </p:nvSpPr>
        <p:spPr>
          <a:xfrm>
            <a:off x="6805879" y="3063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Literatura</a:t>
            </a:r>
            <a:endParaRPr lang="en-US" sz="1200" dirty="0"/>
          </a:p>
        </p:txBody>
      </p:sp>
      <p:sp>
        <p:nvSpPr>
          <p:cNvPr id="28" name="Dias L02"/>
          <p:cNvSpPr txBox="1"/>
          <p:nvPr/>
        </p:nvSpPr>
        <p:spPr>
          <a:xfrm>
            <a:off x="6805879" y="3374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8 días</a:t>
            </a:r>
            <a:endParaRPr lang="en-US" sz="1500" dirty="0"/>
          </a:p>
        </p:txBody>
      </p:sp>
      <p:sp>
        <p:nvSpPr>
          <p:cNvPr id="29" name="Insignia L02"/>
          <p:cNvSpPr/>
          <p:nvPr/>
        </p:nvSpPr>
        <p:spPr>
          <a:xfrm>
            <a:off x="7720279" y="2697480"/>
            <a:ext cx="256032" cy="256032"/>
          </a:xfrm>
          <a:prstGeom prst="ellipse">
            <a:avLst/>
          </a:prstGeom>
          <a:solidFill>
            <a:schemeClr val="accent5">
              <a:alpha val="18000"/>
            </a:schemeClr>
          </a:solidFill>
          <a:ln/>
        </p:spPr>
      </p:sp>
      <p:pic>
        <p:nvPicPr>
          <p:cNvPr id="30" name="Image 1" descr="no coinc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143" y="2752344"/>
            <a:ext cx="146304" cy="146304"/>
          </a:xfrm>
          <a:prstGeom prst="rect">
            <a:avLst/>
          </a:prstGeom>
        </p:spPr>
      </p:pic>
      <p:sp>
        <p:nvSpPr>
          <p:cNvPr id="31" name="Tarjeta L03"/>
          <p:cNvSpPr/>
          <p:nvPr/>
        </p:nvSpPr>
        <p:spPr>
          <a:xfrm>
            <a:off x="8308238" y="2606040"/>
            <a:ext cx="141732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Codigo L03"/>
          <p:cNvSpPr txBox="1"/>
          <p:nvPr/>
        </p:nvSpPr>
        <p:spPr>
          <a:xfrm>
            <a:off x="8445398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L03</a:t>
            </a:r>
            <a:endParaRPr lang="en-US" sz="1700" dirty="0"/>
          </a:p>
        </p:txBody>
      </p:sp>
      <p:sp>
        <p:nvSpPr>
          <p:cNvPr id="33" name="Categoria L03"/>
          <p:cNvSpPr txBox="1"/>
          <p:nvPr/>
        </p:nvSpPr>
        <p:spPr>
          <a:xfrm>
            <a:off x="8445398" y="3063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Ingeniería</a:t>
            </a:r>
            <a:endParaRPr lang="en-US" sz="1200" dirty="0"/>
          </a:p>
        </p:txBody>
      </p:sp>
      <p:sp>
        <p:nvSpPr>
          <p:cNvPr id="34" name="Dias L03"/>
          <p:cNvSpPr txBox="1"/>
          <p:nvPr/>
        </p:nvSpPr>
        <p:spPr>
          <a:xfrm>
            <a:off x="8445398" y="3374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22 días</a:t>
            </a:r>
            <a:endParaRPr lang="en-US" sz="1500" dirty="0"/>
          </a:p>
        </p:txBody>
      </p:sp>
      <p:sp>
        <p:nvSpPr>
          <p:cNvPr id="35" name="Insignia L03"/>
          <p:cNvSpPr/>
          <p:nvPr/>
        </p:nvSpPr>
        <p:spPr>
          <a:xfrm>
            <a:off x="9359798" y="269748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2" descr="coinci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662" y="2752344"/>
            <a:ext cx="146304" cy="146304"/>
          </a:xfrm>
          <a:prstGeom prst="rect">
            <a:avLst/>
          </a:prstGeom>
        </p:spPr>
      </p:pic>
      <p:sp>
        <p:nvSpPr>
          <p:cNvPr id="37" name="Tarjeta L04"/>
          <p:cNvSpPr/>
          <p:nvPr/>
        </p:nvSpPr>
        <p:spPr>
          <a:xfrm>
            <a:off x="9947758" y="2606040"/>
            <a:ext cx="1417320" cy="1188720"/>
          </a:xfrm>
          <a:prstGeom prst="roundRect">
            <a:avLst>
              <a:gd name="adj" fmla="val 10769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38" name="Codigo L04"/>
          <p:cNvSpPr txBox="1"/>
          <p:nvPr/>
        </p:nvSpPr>
        <p:spPr>
          <a:xfrm>
            <a:off x="10084918" y="2715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L04</a:t>
            </a:r>
            <a:endParaRPr lang="en-US" sz="1700" dirty="0"/>
          </a:p>
        </p:txBody>
      </p:sp>
      <p:sp>
        <p:nvSpPr>
          <p:cNvPr id="39" name="Categoria L04"/>
          <p:cNvSpPr txBox="1"/>
          <p:nvPr/>
        </p:nvSpPr>
        <p:spPr>
          <a:xfrm>
            <a:off x="10084918" y="30632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Historia</a:t>
            </a:r>
            <a:endParaRPr lang="en-US" sz="1200" dirty="0"/>
          </a:p>
        </p:txBody>
      </p:sp>
      <p:sp>
        <p:nvSpPr>
          <p:cNvPr id="40" name="Dias L04"/>
          <p:cNvSpPr txBox="1"/>
          <p:nvPr/>
        </p:nvSpPr>
        <p:spPr>
          <a:xfrm>
            <a:off x="10084918" y="3374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30 días</a:t>
            </a:r>
            <a:endParaRPr lang="en-US" sz="1500" dirty="0"/>
          </a:p>
        </p:txBody>
      </p:sp>
      <p:sp>
        <p:nvSpPr>
          <p:cNvPr id="41" name="Insignia L04"/>
          <p:cNvSpPr/>
          <p:nvPr/>
        </p:nvSpPr>
        <p:spPr>
          <a:xfrm>
            <a:off x="10999318" y="2697480"/>
            <a:ext cx="256032" cy="256032"/>
          </a:xfrm>
          <a:prstGeom prst="ellipse">
            <a:avLst/>
          </a:prstGeom>
          <a:solidFill>
            <a:schemeClr val="accent5">
              <a:alpha val="18000"/>
            </a:schemeClr>
          </a:solidFill>
          <a:ln/>
        </p:spPr>
      </p:sp>
      <p:pic>
        <p:nvPicPr>
          <p:cNvPr id="42" name="Image 3" descr="no coinc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182" y="2752344"/>
            <a:ext cx="146304" cy="146304"/>
          </a:xfrm>
          <a:prstGeom prst="rect">
            <a:avLst/>
          </a:prstGeom>
        </p:spPr>
      </p:pic>
      <p:sp>
        <p:nvSpPr>
          <p:cNvPr id="43" name="Flecha L01"/>
          <p:cNvSpPr/>
          <p:nvPr/>
        </p:nvSpPr>
        <p:spPr>
          <a:xfrm>
            <a:off x="5737860" y="3840480"/>
            <a:ext cx="0" cy="38404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4" name="Flecha L03"/>
          <p:cNvSpPr/>
          <p:nvPr/>
        </p:nvSpPr>
        <p:spPr>
          <a:xfrm>
            <a:off x="9016898" y="3840480"/>
            <a:ext cx="0" cy="38404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Aporte L01"/>
          <p:cNvSpPr txBox="1"/>
          <p:nvPr/>
        </p:nvSpPr>
        <p:spPr>
          <a:xfrm>
            <a:off x="5847588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+15</a:t>
            </a:r>
            <a:endParaRPr lang="en-US" sz="1300" dirty="0"/>
          </a:p>
        </p:txBody>
      </p:sp>
      <p:sp>
        <p:nvSpPr>
          <p:cNvPr id="46" name="Aporte L03"/>
          <p:cNvSpPr txBox="1"/>
          <p:nvPr/>
        </p:nvSpPr>
        <p:spPr>
          <a:xfrm>
            <a:off x="9126626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+22</a:t>
            </a:r>
            <a:endParaRPr lang="en-US" sz="1300" dirty="0"/>
          </a:p>
        </p:txBody>
      </p:sp>
      <p:sp>
        <p:nvSpPr>
          <p:cNvPr id="47" name="Bloque sumaDias"/>
          <p:cNvSpPr/>
          <p:nvPr/>
        </p:nvSpPr>
        <p:spPr>
          <a:xfrm>
            <a:off x="5029200" y="434340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Etiqueta sumaDias"/>
          <p:cNvSpPr txBox="1"/>
          <p:nvPr/>
        </p:nvSpPr>
        <p:spPr>
          <a:xfrm>
            <a:off x="5029200" y="4453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sumaDias</a:t>
            </a:r>
            <a:endParaRPr lang="en-US" sz="1300" dirty="0"/>
          </a:p>
        </p:txBody>
      </p:sp>
      <p:sp>
        <p:nvSpPr>
          <p:cNvPr id="49" name="Valor sumaDias"/>
          <p:cNvSpPr txBox="1"/>
          <p:nvPr/>
        </p:nvSpPr>
        <p:spPr>
          <a:xfrm>
            <a:off x="5029200" y="4754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37</a:t>
            </a:r>
            <a:endParaRPr lang="en-US" sz="4000" dirty="0"/>
          </a:p>
        </p:txBody>
      </p:sp>
      <p:sp>
        <p:nvSpPr>
          <p:cNvPr id="50" name="Detalle sumaDias"/>
          <p:cNvSpPr txBox="1"/>
          <p:nvPr/>
        </p:nvSpPr>
        <p:spPr>
          <a:xfrm>
            <a:off x="5029200" y="5458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15 + 22</a:t>
            </a:r>
            <a:endParaRPr lang="en-US" sz="1200" dirty="0"/>
          </a:p>
        </p:txBody>
      </p:sp>
      <p:sp>
        <p:nvSpPr>
          <p:cNvPr id="51" name="Bloque cantLibros"/>
          <p:cNvSpPr/>
          <p:nvPr/>
        </p:nvSpPr>
        <p:spPr>
          <a:xfrm>
            <a:off x="7306056" y="434340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2" name="Etiqueta cantLibros"/>
          <p:cNvSpPr txBox="1"/>
          <p:nvPr/>
        </p:nvSpPr>
        <p:spPr>
          <a:xfrm>
            <a:off x="7306056" y="4453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cantLibros</a:t>
            </a:r>
            <a:endParaRPr lang="en-US" sz="1300" dirty="0"/>
          </a:p>
        </p:txBody>
      </p:sp>
      <p:sp>
        <p:nvSpPr>
          <p:cNvPr id="53" name="Valor cantLibros"/>
          <p:cNvSpPr txBox="1"/>
          <p:nvPr/>
        </p:nvSpPr>
        <p:spPr>
          <a:xfrm>
            <a:off x="7306056" y="4754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</a:t>
            </a:r>
            <a:endParaRPr lang="en-US" sz="4000" dirty="0"/>
          </a:p>
        </p:txBody>
      </p:sp>
      <p:sp>
        <p:nvSpPr>
          <p:cNvPr id="54" name="Detalle cantLibros"/>
          <p:cNvSpPr txBox="1"/>
          <p:nvPr/>
        </p:nvSpPr>
        <p:spPr>
          <a:xfrm>
            <a:off x="7306056" y="5458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L01 y L03</a:t>
            </a:r>
            <a:endParaRPr lang="en-US" sz="1200" dirty="0"/>
          </a:p>
        </p:txBody>
      </p:sp>
      <p:sp>
        <p:nvSpPr>
          <p:cNvPr id="55" name="Bloque promedio"/>
          <p:cNvSpPr/>
          <p:nvPr/>
        </p:nvSpPr>
        <p:spPr>
          <a:xfrm>
            <a:off x="9582912" y="434340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Etiqueta promedio"/>
          <p:cNvSpPr txBox="1"/>
          <p:nvPr/>
        </p:nvSpPr>
        <p:spPr>
          <a:xfrm>
            <a:off x="9582912" y="4453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endParaRPr lang="en-US" sz="1300" dirty="0"/>
          </a:p>
        </p:txBody>
      </p:sp>
      <p:sp>
        <p:nvSpPr>
          <p:cNvPr id="57" name="Valor promedio"/>
          <p:cNvSpPr txBox="1"/>
          <p:nvPr/>
        </p:nvSpPr>
        <p:spPr>
          <a:xfrm>
            <a:off x="9582912" y="4754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18</a:t>
            </a:r>
            <a:endParaRPr lang="en-US" sz="4000" dirty="0"/>
          </a:p>
        </p:txBody>
      </p:sp>
      <p:sp>
        <p:nvSpPr>
          <p:cNvPr id="58" name="Detalle promedio"/>
          <p:cNvSpPr txBox="1"/>
          <p:nvPr/>
        </p:nvSpPr>
        <p:spPr>
          <a:xfrm>
            <a:off x="9582912" y="5458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37 / 2 (int)</a:t>
            </a:r>
            <a:endParaRPr lang="en-US" sz="1200" dirty="0"/>
          </a:p>
        </p:txBody>
      </p:sp>
      <p:sp>
        <p:nvSpPr>
          <p:cNvPr id="59" name="Operador division"/>
          <p:cNvSpPr txBox="1"/>
          <p:nvPr/>
        </p:nvSpPr>
        <p:spPr>
          <a:xfrm>
            <a:off x="6812280" y="4754880"/>
            <a:ext cx="493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÷</a:t>
            </a:r>
            <a:endParaRPr lang="en-US" sz="2800" dirty="0"/>
          </a:p>
        </p:txBody>
      </p:sp>
      <p:sp>
        <p:nvSpPr>
          <p:cNvPr id="60" name="Operador igual"/>
          <p:cNvSpPr txBox="1"/>
          <p:nvPr/>
        </p:nvSpPr>
        <p:spPr>
          <a:xfrm>
            <a:off x="9089136" y="4754880"/>
            <a:ext cx="493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=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INCISO C  ·  MARTHA ALINA MONTANE ARIAS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Renovar préstamo</a:t>
            </a:r>
            <a:endParaRPr lang="en-US" sz="3600" dirty="0"/>
          </a:p>
        </p:txBody>
      </p:sp>
      <p:sp>
        <p:nvSpPr>
          <p:cNvPr id="4" name="Firma del metodo"/>
          <p:cNvSpPr txBox="1"/>
          <p:nvPr/>
        </p:nvSpPr>
        <p:spPr>
          <a:xfrm>
            <a:off x="548640" y="1389888"/>
            <a:ext cx="512064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renovarPrestamo(String codigo, int diasAdicionales)</a:t>
            </a:r>
            <a:endParaRPr lang="en-US" sz="1200" dirty="0"/>
          </a:p>
        </p:txBody>
      </p:sp>
      <p:sp>
        <p:nvSpPr>
          <p:cNvPr id="5" name="Descripcion"/>
          <p:cNvSpPr txBox="1"/>
          <p:nvPr/>
        </p:nvSpPr>
        <p:spPr>
          <a:xfrm>
            <a:off x="54864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Busca un libro por su código y le suma los días adicionales. Devuelve true si lo encontró.</a:t>
            </a:r>
            <a:endParaRPr lang="en-US" sz="1600" dirty="0"/>
          </a:p>
        </p:txBody>
      </p:sp>
      <p:sp>
        <p:nvSpPr>
          <p:cNvPr id="6" name="Numero paso 1"/>
          <p:cNvSpPr txBox="1"/>
          <p:nvPr/>
        </p:nvSpPr>
        <p:spPr>
          <a:xfrm>
            <a:off x="548640" y="3017520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Paso 1"/>
          <p:cNvSpPr txBox="1"/>
          <p:nvPr/>
        </p:nvSpPr>
        <p:spPr>
          <a:xfrm>
            <a:off x="987552" y="299008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el catálogo comparando códigos.</a:t>
            </a:r>
            <a:endParaRPr lang="en-US" sz="1400" dirty="0"/>
          </a:p>
        </p:txBody>
      </p:sp>
      <p:sp>
        <p:nvSpPr>
          <p:cNvPr id="8" name="Numero paso 2"/>
          <p:cNvSpPr txBox="1"/>
          <p:nvPr/>
        </p:nvSpPr>
        <p:spPr>
          <a:xfrm>
            <a:off x="548640" y="3648456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aso 2"/>
          <p:cNvSpPr txBox="1"/>
          <p:nvPr/>
        </p:nvSpPr>
        <p:spPr>
          <a:xfrm>
            <a:off x="987552" y="362102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 coincidir, suma los días adicionales.</a:t>
            </a:r>
            <a:endParaRPr lang="en-US" sz="1400" dirty="0"/>
          </a:p>
        </p:txBody>
      </p:sp>
      <p:sp>
        <p:nvSpPr>
          <p:cNvPr id="10" name="Numero paso 3"/>
          <p:cNvSpPr txBox="1"/>
          <p:nvPr/>
        </p:nvSpPr>
        <p:spPr>
          <a:xfrm>
            <a:off x="548640" y="4279392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Paso 3"/>
          <p:cNvSpPr txBox="1"/>
          <p:nvPr/>
        </p:nvSpPr>
        <p:spPr>
          <a:xfrm>
            <a:off x="987552" y="42519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Devuelve true (false si ninguno coincide).</a:t>
            </a:r>
            <a:endParaRPr lang="en-US" sz="1400" dirty="0"/>
          </a:p>
        </p:txBody>
      </p:sp>
      <p:sp>
        <p:nvSpPr>
          <p:cNvPr id="12" name="Tarjeta resultado"/>
          <p:cNvSpPr/>
          <p:nvPr/>
        </p:nvSpPr>
        <p:spPr>
          <a:xfrm>
            <a:off x="548640" y="5138928"/>
            <a:ext cx="3931920" cy="1078992"/>
          </a:xfrm>
          <a:prstGeom prst="roundRect">
            <a:avLst>
              <a:gd name="adj" fmla="val 11864"/>
            </a:avLst>
          </a:prstGeom>
          <a:solidFill>
            <a:schemeClr val="tx2"/>
          </a:solidFill>
          <a:ln/>
        </p:spPr>
      </p:sp>
      <p:sp>
        <p:nvSpPr>
          <p:cNvPr id="13" name="Etiqueta resultado"/>
          <p:cNvSpPr txBox="1"/>
          <p:nvPr/>
        </p:nvSpPr>
        <p:spPr>
          <a:xfrm>
            <a:off x="749808" y="5212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RESULTADO CON EL EJEMPLO</a:t>
            </a:r>
            <a:endParaRPr lang="en-US" sz="1000" dirty="0"/>
          </a:p>
        </p:txBody>
      </p:sp>
      <p:sp>
        <p:nvSpPr>
          <p:cNvPr id="14" name="Llamada"/>
          <p:cNvSpPr txBox="1"/>
          <p:nvPr/>
        </p:nvSpPr>
        <p:spPr>
          <a:xfrm>
            <a:off x="749808" y="5422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renovarPrestamo("L02", 7)</a:t>
            </a:r>
            <a:endParaRPr lang="en-US" sz="1100" dirty="0"/>
          </a:p>
        </p:txBody>
      </p:sp>
      <p:sp>
        <p:nvSpPr>
          <p:cNvPr id="15" name="Valor devuelto"/>
          <p:cNvSpPr txBox="1"/>
          <p:nvPr/>
        </p:nvSpPr>
        <p:spPr>
          <a:xfrm>
            <a:off x="749808" y="5669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true   (L02 pasa de 8 a 15 días)</a:t>
            </a:r>
            <a:endParaRPr lang="en-US" sz="1400" dirty="0"/>
          </a:p>
        </p:txBody>
      </p:sp>
      <p:sp>
        <p:nvSpPr>
          <p:cNvPr id="16" name="Panel visual"/>
          <p:cNvSpPr/>
          <p:nvPr/>
        </p:nvSpPr>
        <p:spPr>
          <a:xfrm>
            <a:off x="4754880" y="2011680"/>
            <a:ext cx="6885432" cy="4206240"/>
          </a:xfrm>
          <a:prstGeom prst="roundRect">
            <a:avLst>
              <a:gd name="adj" fmla="val 3913"/>
            </a:avLst>
          </a:prstGeom>
          <a:solidFill>
            <a:schemeClr val="bg2"/>
          </a:solidFill>
          <a:ln/>
        </p:spPr>
      </p:sp>
      <p:sp>
        <p:nvSpPr>
          <p:cNvPr id="18" name="Titulo paso 1"/>
          <p:cNvSpPr txBox="1"/>
          <p:nvPr/>
        </p:nvSpPr>
        <p:spPr>
          <a:xfrm>
            <a:off x="5029200" y="2240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 · Buscar el código "L02"</a:t>
            </a:r>
            <a:endParaRPr lang="en-US" sz="1300" dirty="0"/>
          </a:p>
        </p:txBody>
      </p:sp>
      <p:sp>
        <p:nvSpPr>
          <p:cNvPr id="19" name="Tarjeta L01"/>
          <p:cNvSpPr/>
          <p:nvPr/>
        </p:nvSpPr>
        <p:spPr>
          <a:xfrm>
            <a:off x="5029200" y="2606040"/>
            <a:ext cx="141732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Codigo L01"/>
          <p:cNvSpPr txBox="1"/>
          <p:nvPr/>
        </p:nvSpPr>
        <p:spPr>
          <a:xfrm>
            <a:off x="5166360" y="2734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L01</a:t>
            </a:r>
            <a:endParaRPr lang="en-US" sz="1700" dirty="0"/>
          </a:p>
        </p:txBody>
      </p:sp>
      <p:sp>
        <p:nvSpPr>
          <p:cNvPr id="21" name="Dias L01"/>
          <p:cNvSpPr txBox="1"/>
          <p:nvPr/>
        </p:nvSpPr>
        <p:spPr>
          <a:xfrm>
            <a:off x="5166360" y="3136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 días</a:t>
            </a:r>
            <a:endParaRPr lang="en-US" sz="1400" dirty="0"/>
          </a:p>
        </p:txBody>
      </p:sp>
      <p:sp>
        <p:nvSpPr>
          <p:cNvPr id="22" name="Estado L01"/>
          <p:cNvSpPr txBox="1"/>
          <p:nvPr/>
        </p:nvSpPr>
        <p:spPr>
          <a:xfrm>
            <a:off x="5029200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 coincide</a:t>
            </a:r>
            <a:endParaRPr lang="en-US" sz="1200" dirty="0"/>
          </a:p>
        </p:txBody>
      </p:sp>
      <p:sp>
        <p:nvSpPr>
          <p:cNvPr id="23" name="Tarjeta L02"/>
          <p:cNvSpPr/>
          <p:nvPr/>
        </p:nvSpPr>
        <p:spPr>
          <a:xfrm>
            <a:off x="6668719" y="2606040"/>
            <a:ext cx="141732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Codigo L02"/>
          <p:cNvSpPr txBox="1"/>
          <p:nvPr/>
        </p:nvSpPr>
        <p:spPr>
          <a:xfrm>
            <a:off x="6805879" y="2734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L02</a:t>
            </a:r>
            <a:endParaRPr lang="en-US" sz="1700" dirty="0"/>
          </a:p>
        </p:txBody>
      </p:sp>
      <p:sp>
        <p:nvSpPr>
          <p:cNvPr id="25" name="Dias L02"/>
          <p:cNvSpPr txBox="1"/>
          <p:nvPr/>
        </p:nvSpPr>
        <p:spPr>
          <a:xfrm>
            <a:off x="6805879" y="3136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8 días</a:t>
            </a:r>
            <a:endParaRPr lang="en-US" sz="1400" dirty="0"/>
          </a:p>
        </p:txBody>
      </p:sp>
      <p:sp>
        <p:nvSpPr>
          <p:cNvPr id="26" name="Estado L02"/>
          <p:cNvSpPr txBox="1"/>
          <p:nvPr/>
        </p:nvSpPr>
        <p:spPr>
          <a:xfrm>
            <a:off x="6668719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¡coincide!</a:t>
            </a:r>
            <a:endParaRPr lang="en-US" sz="1200" dirty="0"/>
          </a:p>
        </p:txBody>
      </p:sp>
      <p:sp>
        <p:nvSpPr>
          <p:cNvPr id="27" name="Tarjeta L03"/>
          <p:cNvSpPr/>
          <p:nvPr/>
        </p:nvSpPr>
        <p:spPr>
          <a:xfrm>
            <a:off x="8308238" y="2606040"/>
            <a:ext cx="141732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Codigo L03"/>
          <p:cNvSpPr txBox="1"/>
          <p:nvPr/>
        </p:nvSpPr>
        <p:spPr>
          <a:xfrm>
            <a:off x="8445398" y="2734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L03</a:t>
            </a:r>
            <a:endParaRPr lang="en-US" sz="1700" dirty="0"/>
          </a:p>
        </p:txBody>
      </p:sp>
      <p:sp>
        <p:nvSpPr>
          <p:cNvPr id="29" name="Dias L03"/>
          <p:cNvSpPr txBox="1"/>
          <p:nvPr/>
        </p:nvSpPr>
        <p:spPr>
          <a:xfrm>
            <a:off x="8445398" y="3136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22 días</a:t>
            </a:r>
            <a:endParaRPr lang="en-US" sz="1400" dirty="0"/>
          </a:p>
        </p:txBody>
      </p:sp>
      <p:sp>
        <p:nvSpPr>
          <p:cNvPr id="30" name="Estado L03"/>
          <p:cNvSpPr txBox="1"/>
          <p:nvPr/>
        </p:nvSpPr>
        <p:spPr>
          <a:xfrm>
            <a:off x="8308238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 coincide</a:t>
            </a:r>
            <a:endParaRPr lang="en-US" sz="1200" dirty="0"/>
          </a:p>
        </p:txBody>
      </p:sp>
      <p:sp>
        <p:nvSpPr>
          <p:cNvPr id="31" name="Tarjeta L04"/>
          <p:cNvSpPr/>
          <p:nvPr/>
        </p:nvSpPr>
        <p:spPr>
          <a:xfrm>
            <a:off x="9947758" y="2606040"/>
            <a:ext cx="1417320" cy="9601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Codigo L04"/>
          <p:cNvSpPr txBox="1"/>
          <p:nvPr/>
        </p:nvSpPr>
        <p:spPr>
          <a:xfrm>
            <a:off x="10084918" y="2734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L04</a:t>
            </a:r>
            <a:endParaRPr lang="en-US" sz="1700" dirty="0"/>
          </a:p>
        </p:txBody>
      </p:sp>
      <p:sp>
        <p:nvSpPr>
          <p:cNvPr id="33" name="Dias L04"/>
          <p:cNvSpPr txBox="1"/>
          <p:nvPr/>
        </p:nvSpPr>
        <p:spPr>
          <a:xfrm>
            <a:off x="10084918" y="3136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30 días</a:t>
            </a:r>
            <a:endParaRPr lang="en-US" sz="1400" dirty="0"/>
          </a:p>
        </p:txBody>
      </p:sp>
      <p:sp>
        <p:nvSpPr>
          <p:cNvPr id="34" name="Estado L04"/>
          <p:cNvSpPr txBox="1"/>
          <p:nvPr/>
        </p:nvSpPr>
        <p:spPr>
          <a:xfrm>
            <a:off x="9947758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5">
              <a:alpha val="1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 coincide</a:t>
            </a:r>
            <a:endParaRPr lang="en-US" sz="1200" dirty="0"/>
          </a:p>
        </p:txBody>
      </p:sp>
      <p:sp>
        <p:nvSpPr>
          <p:cNvPr id="35" name="Titulo paso 2"/>
          <p:cNvSpPr txBox="1"/>
          <p:nvPr/>
        </p:nvSpPr>
        <p:spPr>
          <a:xfrm>
            <a:off x="5029200" y="42976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 · Sumarle 7 días a ese libro</a:t>
            </a:r>
            <a:endParaRPr lang="en-US" sz="1300" dirty="0"/>
          </a:p>
        </p:txBody>
      </p:sp>
      <p:sp>
        <p:nvSpPr>
          <p:cNvPr id="36" name="Libro antes"/>
          <p:cNvSpPr/>
          <p:nvPr/>
        </p:nvSpPr>
        <p:spPr>
          <a:xfrm>
            <a:off x="5029200" y="4663440"/>
            <a:ext cx="2103120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Codigo antes"/>
          <p:cNvSpPr txBox="1"/>
          <p:nvPr/>
        </p:nvSpPr>
        <p:spPr>
          <a:xfrm>
            <a:off x="521208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L02</a:t>
            </a:r>
            <a:endParaRPr lang="en-US" sz="1700" dirty="0"/>
          </a:p>
        </p:txBody>
      </p:sp>
      <p:sp>
        <p:nvSpPr>
          <p:cNvPr id="38" name="Titulo antes"/>
          <p:cNvSpPr txBox="1"/>
          <p:nvPr/>
        </p:nvSpPr>
        <p:spPr>
          <a:xfrm>
            <a:off x="5212080" y="5029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Cien Años de Soledad</a:t>
            </a:r>
            <a:endParaRPr lang="en-US" sz="1100" dirty="0"/>
          </a:p>
        </p:txBody>
      </p:sp>
      <p:sp>
        <p:nvSpPr>
          <p:cNvPr id="39" name="Dias antes"/>
          <p:cNvSpPr txBox="1"/>
          <p:nvPr/>
        </p:nvSpPr>
        <p:spPr>
          <a:xfrm>
            <a:off x="521208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días</a:t>
            </a:r>
            <a:endParaRPr lang="en-US" sz="1400" dirty="0"/>
          </a:p>
        </p:txBody>
      </p:sp>
      <p:sp>
        <p:nvSpPr>
          <p:cNvPr id="40" name="Suma"/>
          <p:cNvSpPr txBox="1"/>
          <p:nvPr/>
        </p:nvSpPr>
        <p:spPr>
          <a:xfrm>
            <a:off x="7589520" y="4828032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+ 7 días</a:t>
            </a:r>
            <a:endParaRPr lang="en-US" sz="1300" dirty="0"/>
          </a:p>
        </p:txBody>
      </p:sp>
      <p:sp>
        <p:nvSpPr>
          <p:cNvPr id="41" name="Flecha renovar"/>
          <p:cNvSpPr/>
          <p:nvPr/>
        </p:nvSpPr>
        <p:spPr>
          <a:xfrm>
            <a:off x="7315200" y="5303520"/>
            <a:ext cx="18288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2" name="Codigo suma"/>
          <p:cNvSpPr txBox="1"/>
          <p:nvPr/>
        </p:nvSpPr>
        <p:spPr>
          <a:xfrm>
            <a:off x="7315200" y="5394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setDias(8 + 7)</a:t>
            </a:r>
            <a:endParaRPr lang="en-US" sz="1100" dirty="0"/>
          </a:p>
        </p:txBody>
      </p:sp>
      <p:sp>
        <p:nvSpPr>
          <p:cNvPr id="43" name="Libro despues"/>
          <p:cNvSpPr/>
          <p:nvPr/>
        </p:nvSpPr>
        <p:spPr>
          <a:xfrm>
            <a:off x="9262872" y="4663440"/>
            <a:ext cx="2103120" cy="1188720"/>
          </a:xfrm>
          <a:prstGeom prst="roundRect">
            <a:avLst>
              <a:gd name="adj" fmla="val 1076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Codigo despues"/>
          <p:cNvSpPr txBox="1"/>
          <p:nvPr/>
        </p:nvSpPr>
        <p:spPr>
          <a:xfrm>
            <a:off x="9445752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L02</a:t>
            </a:r>
            <a:endParaRPr lang="en-US" sz="1700" dirty="0"/>
          </a:p>
        </p:txBody>
      </p:sp>
      <p:sp>
        <p:nvSpPr>
          <p:cNvPr id="45" name="Titulo despues"/>
          <p:cNvSpPr txBox="1"/>
          <p:nvPr/>
        </p:nvSpPr>
        <p:spPr>
          <a:xfrm>
            <a:off x="9445752" y="5029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Cien Años de Soledad</a:t>
            </a:r>
            <a:endParaRPr lang="en-US" sz="1100" dirty="0"/>
          </a:p>
        </p:txBody>
      </p:sp>
      <p:sp>
        <p:nvSpPr>
          <p:cNvPr id="46" name="Dias despues"/>
          <p:cNvSpPr txBox="1"/>
          <p:nvPr/>
        </p:nvSpPr>
        <p:spPr>
          <a:xfrm>
            <a:off x="9445752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días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INCISO D  ·  CESAR PAREDES REAL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Eliminar libros por categoría</a:t>
            </a:r>
            <a:endParaRPr lang="en-US" sz="3600" dirty="0"/>
          </a:p>
        </p:txBody>
      </p:sp>
      <p:sp>
        <p:nvSpPr>
          <p:cNvPr id="4" name="Firma del metodo"/>
          <p:cNvSpPr txBox="1"/>
          <p:nvPr/>
        </p:nvSpPr>
        <p:spPr>
          <a:xfrm>
            <a:off x="548640" y="1389888"/>
            <a:ext cx="44805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EliminarLibrosPorCategoria(String categoria)</a:t>
            </a:r>
            <a:endParaRPr lang="en-US" sz="1200" dirty="0"/>
          </a:p>
        </p:txBody>
      </p:sp>
      <p:sp>
        <p:nvSpPr>
          <p:cNvPr id="5" name="Descripcion"/>
          <p:cNvSpPr txBox="1"/>
          <p:nvPr/>
        </p:nvSpPr>
        <p:spPr>
          <a:xfrm>
            <a:off x="54864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Quita del catálogo todos los libros de la categoría indicada y devuelve cuántos eliminó.</a:t>
            </a:r>
            <a:endParaRPr lang="en-US" sz="1600" dirty="0"/>
          </a:p>
        </p:txBody>
      </p:sp>
      <p:sp>
        <p:nvSpPr>
          <p:cNvPr id="6" name="Numero paso 1"/>
          <p:cNvSpPr txBox="1"/>
          <p:nvPr/>
        </p:nvSpPr>
        <p:spPr>
          <a:xfrm>
            <a:off x="548640" y="3017520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Paso 1"/>
          <p:cNvSpPr txBox="1"/>
          <p:nvPr/>
        </p:nvSpPr>
        <p:spPr>
          <a:xfrm>
            <a:off x="987552" y="299008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el catálogo posición por posición.</a:t>
            </a:r>
            <a:endParaRPr lang="en-US" sz="1400" dirty="0"/>
          </a:p>
        </p:txBody>
      </p:sp>
      <p:sp>
        <p:nvSpPr>
          <p:cNvPr id="8" name="Numero paso 2"/>
          <p:cNvSpPr txBox="1"/>
          <p:nvPr/>
        </p:nvSpPr>
        <p:spPr>
          <a:xfrm>
            <a:off x="548640" y="3648456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aso 2"/>
          <p:cNvSpPr txBox="1"/>
          <p:nvPr/>
        </p:nvSpPr>
        <p:spPr>
          <a:xfrm>
            <a:off x="987552" y="3621024"/>
            <a:ext cx="349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coincide: remove(i), cuenta 1 y hace i-- para revisar el libro que se corrió.</a:t>
            </a:r>
            <a:endParaRPr lang="en-US" sz="1400" dirty="0"/>
          </a:p>
        </p:txBody>
      </p:sp>
      <p:sp>
        <p:nvSpPr>
          <p:cNvPr id="10" name="Numero paso 3"/>
          <p:cNvSpPr txBox="1"/>
          <p:nvPr/>
        </p:nvSpPr>
        <p:spPr>
          <a:xfrm>
            <a:off x="548640" y="4507992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Paso 3"/>
          <p:cNvSpPr txBox="1"/>
          <p:nvPr/>
        </p:nvSpPr>
        <p:spPr>
          <a:xfrm>
            <a:off x="987552" y="44805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Devuelve la cantidad eliminada.</a:t>
            </a:r>
            <a:endParaRPr lang="en-US" sz="1400" dirty="0"/>
          </a:p>
        </p:txBody>
      </p:sp>
      <p:sp>
        <p:nvSpPr>
          <p:cNvPr id="12" name="Tarjeta resultado"/>
          <p:cNvSpPr/>
          <p:nvPr/>
        </p:nvSpPr>
        <p:spPr>
          <a:xfrm>
            <a:off x="548640" y="5138928"/>
            <a:ext cx="3931920" cy="1078992"/>
          </a:xfrm>
          <a:prstGeom prst="roundRect">
            <a:avLst>
              <a:gd name="adj" fmla="val 11864"/>
            </a:avLst>
          </a:prstGeom>
          <a:solidFill>
            <a:schemeClr val="tx2"/>
          </a:solidFill>
          <a:ln/>
        </p:spPr>
      </p:sp>
      <p:sp>
        <p:nvSpPr>
          <p:cNvPr id="13" name="Etiqueta resultado"/>
          <p:cNvSpPr txBox="1"/>
          <p:nvPr/>
        </p:nvSpPr>
        <p:spPr>
          <a:xfrm>
            <a:off x="749808" y="5212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RESULTADO CON EL EJEMPLO</a:t>
            </a:r>
            <a:endParaRPr lang="en-US" sz="1000" dirty="0"/>
          </a:p>
        </p:txBody>
      </p:sp>
      <p:sp>
        <p:nvSpPr>
          <p:cNvPr id="14" name="Llamada"/>
          <p:cNvSpPr txBox="1"/>
          <p:nvPr/>
        </p:nvSpPr>
        <p:spPr>
          <a:xfrm>
            <a:off x="749808" y="5422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EliminarLibrosPorCategoria("Ingeniería")</a:t>
            </a:r>
            <a:endParaRPr lang="en-US" sz="1100" dirty="0"/>
          </a:p>
        </p:txBody>
      </p:sp>
      <p:sp>
        <p:nvSpPr>
          <p:cNvPr id="15" name="Valor devuelto"/>
          <p:cNvSpPr txBox="1"/>
          <p:nvPr/>
        </p:nvSpPr>
        <p:spPr>
          <a:xfrm>
            <a:off x="749808" y="5669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 (quedan L02 y L04)</a:t>
            </a:r>
            <a:endParaRPr lang="en-US" sz="1400" dirty="0"/>
          </a:p>
        </p:txBody>
      </p:sp>
      <p:sp>
        <p:nvSpPr>
          <p:cNvPr id="16" name="Panel visual"/>
          <p:cNvSpPr/>
          <p:nvPr/>
        </p:nvSpPr>
        <p:spPr>
          <a:xfrm>
            <a:off x="4754880" y="2011680"/>
            <a:ext cx="6885432" cy="4206240"/>
          </a:xfrm>
          <a:prstGeom prst="roundRect">
            <a:avLst>
              <a:gd name="adj" fmla="val 3913"/>
            </a:avLst>
          </a:prstGeom>
          <a:solidFill>
            <a:schemeClr val="bg2"/>
          </a:solidFill>
          <a:ln/>
        </p:spPr>
      </p:sp>
      <p:sp>
        <p:nvSpPr>
          <p:cNvPr id="18" name="Etiqueta fila 1"/>
          <p:cNvSpPr txBox="1"/>
          <p:nvPr/>
        </p:nvSpPr>
        <p:spPr>
          <a:xfrm>
            <a:off x="502920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· Antes</a:t>
            </a:r>
            <a:endParaRPr lang="en-US" sz="1400" dirty="0"/>
          </a:p>
        </p:txBody>
      </p:sp>
      <p:sp>
        <p:nvSpPr>
          <p:cNvPr id="19" name="Detalle fila 1"/>
          <p:cNvSpPr txBox="1"/>
          <p:nvPr/>
        </p:nvSpPr>
        <p:spPr>
          <a:xfrm>
            <a:off x="502920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 libros en el catálogo</a:t>
            </a:r>
            <a:endParaRPr lang="en-US" sz="1100" dirty="0"/>
          </a:p>
        </p:txBody>
      </p:sp>
      <p:sp>
        <p:nvSpPr>
          <p:cNvPr id="20" name="Celda 0-0"/>
          <p:cNvSpPr/>
          <p:nvPr/>
        </p:nvSpPr>
        <p:spPr>
          <a:xfrm>
            <a:off x="7040880" y="233172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Codigo celda 0-0"/>
          <p:cNvSpPr txBox="1"/>
          <p:nvPr/>
        </p:nvSpPr>
        <p:spPr>
          <a:xfrm>
            <a:off x="7040880" y="24231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L01</a:t>
            </a:r>
            <a:endParaRPr lang="en-US" sz="1500" dirty="0"/>
          </a:p>
        </p:txBody>
      </p:sp>
      <p:sp>
        <p:nvSpPr>
          <p:cNvPr id="22" name="Categoria celda 0-0"/>
          <p:cNvSpPr txBox="1"/>
          <p:nvPr/>
        </p:nvSpPr>
        <p:spPr>
          <a:xfrm>
            <a:off x="7040880" y="274320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Ingeniería</a:t>
            </a:r>
            <a:endParaRPr lang="en-US" sz="1000" dirty="0"/>
          </a:p>
        </p:txBody>
      </p:sp>
      <p:sp>
        <p:nvSpPr>
          <p:cNvPr id="23" name="Celda 0-1"/>
          <p:cNvSpPr/>
          <p:nvPr/>
        </p:nvSpPr>
        <p:spPr>
          <a:xfrm>
            <a:off x="8156448" y="233172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Codigo celda 0-1"/>
          <p:cNvSpPr txBox="1"/>
          <p:nvPr/>
        </p:nvSpPr>
        <p:spPr>
          <a:xfrm>
            <a:off x="8156448" y="24231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L02</a:t>
            </a:r>
            <a:endParaRPr lang="en-US" sz="1500" dirty="0"/>
          </a:p>
        </p:txBody>
      </p:sp>
      <p:sp>
        <p:nvSpPr>
          <p:cNvPr id="25" name="Categoria celda 0-1"/>
          <p:cNvSpPr txBox="1"/>
          <p:nvPr/>
        </p:nvSpPr>
        <p:spPr>
          <a:xfrm>
            <a:off x="8156448" y="274320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Literatura</a:t>
            </a:r>
            <a:endParaRPr lang="en-US" sz="1000" dirty="0"/>
          </a:p>
        </p:txBody>
      </p:sp>
      <p:sp>
        <p:nvSpPr>
          <p:cNvPr id="26" name="Celda 0-2"/>
          <p:cNvSpPr/>
          <p:nvPr/>
        </p:nvSpPr>
        <p:spPr>
          <a:xfrm>
            <a:off x="9272016" y="233172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7" name="Codigo celda 0-2"/>
          <p:cNvSpPr txBox="1"/>
          <p:nvPr/>
        </p:nvSpPr>
        <p:spPr>
          <a:xfrm>
            <a:off x="9272016" y="24231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L03</a:t>
            </a:r>
            <a:endParaRPr lang="en-US" sz="1500" dirty="0"/>
          </a:p>
        </p:txBody>
      </p:sp>
      <p:sp>
        <p:nvSpPr>
          <p:cNvPr id="28" name="Categoria celda 0-2"/>
          <p:cNvSpPr txBox="1"/>
          <p:nvPr/>
        </p:nvSpPr>
        <p:spPr>
          <a:xfrm>
            <a:off x="9272016" y="274320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Ingeniería</a:t>
            </a:r>
            <a:endParaRPr lang="en-US" sz="1000" dirty="0"/>
          </a:p>
        </p:txBody>
      </p:sp>
      <p:sp>
        <p:nvSpPr>
          <p:cNvPr id="29" name="Celda 0-3"/>
          <p:cNvSpPr/>
          <p:nvPr/>
        </p:nvSpPr>
        <p:spPr>
          <a:xfrm>
            <a:off x="10387584" y="233172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0" name="Codigo celda 0-3"/>
          <p:cNvSpPr txBox="1"/>
          <p:nvPr/>
        </p:nvSpPr>
        <p:spPr>
          <a:xfrm>
            <a:off x="10387584" y="242316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L04</a:t>
            </a:r>
            <a:endParaRPr lang="en-US" sz="1500" dirty="0"/>
          </a:p>
        </p:txBody>
      </p:sp>
      <p:sp>
        <p:nvSpPr>
          <p:cNvPr id="31" name="Categoria celda 0-3"/>
          <p:cNvSpPr txBox="1"/>
          <p:nvPr/>
        </p:nvSpPr>
        <p:spPr>
          <a:xfrm>
            <a:off x="10387584" y="274320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Historia</a:t>
            </a:r>
            <a:endParaRPr lang="en-US" sz="1000" dirty="0"/>
          </a:p>
        </p:txBody>
      </p:sp>
      <p:sp>
        <p:nvSpPr>
          <p:cNvPr id="32" name="Etiqueta fila 2"/>
          <p:cNvSpPr txBox="1"/>
          <p:nvPr/>
        </p:nvSpPr>
        <p:spPr>
          <a:xfrm>
            <a:off x="5029200" y="3337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· Quitar L01</a:t>
            </a:r>
            <a:endParaRPr lang="en-US" sz="1400" dirty="0"/>
          </a:p>
        </p:txBody>
      </p:sp>
      <p:sp>
        <p:nvSpPr>
          <p:cNvPr id="33" name="Detalle fila 2"/>
          <p:cNvSpPr txBox="1"/>
          <p:nvPr/>
        </p:nvSpPr>
        <p:spPr>
          <a:xfrm>
            <a:off x="5029200" y="3611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L02, L03 y L04 se corren una posición a la izquierda</a:t>
            </a:r>
            <a:endParaRPr lang="en-US" sz="1100" dirty="0"/>
          </a:p>
        </p:txBody>
      </p:sp>
      <p:sp>
        <p:nvSpPr>
          <p:cNvPr id="34" name="Celda 1-0"/>
          <p:cNvSpPr/>
          <p:nvPr/>
        </p:nvSpPr>
        <p:spPr>
          <a:xfrm>
            <a:off x="7040880" y="333756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Codigo celda 1-0"/>
          <p:cNvSpPr txBox="1"/>
          <p:nvPr/>
        </p:nvSpPr>
        <p:spPr>
          <a:xfrm>
            <a:off x="7040880" y="34290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L02</a:t>
            </a:r>
            <a:endParaRPr lang="en-US" sz="1500" dirty="0"/>
          </a:p>
        </p:txBody>
      </p:sp>
      <p:sp>
        <p:nvSpPr>
          <p:cNvPr id="36" name="Categoria celda 1-0"/>
          <p:cNvSpPr txBox="1"/>
          <p:nvPr/>
        </p:nvSpPr>
        <p:spPr>
          <a:xfrm>
            <a:off x="7040880" y="374904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Literatura</a:t>
            </a:r>
            <a:endParaRPr lang="en-US" sz="1000" dirty="0"/>
          </a:p>
        </p:txBody>
      </p:sp>
      <p:sp>
        <p:nvSpPr>
          <p:cNvPr id="37" name="Celda 1-1"/>
          <p:cNvSpPr/>
          <p:nvPr/>
        </p:nvSpPr>
        <p:spPr>
          <a:xfrm>
            <a:off x="8156448" y="333756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8" name="Codigo celda 1-1"/>
          <p:cNvSpPr txBox="1"/>
          <p:nvPr/>
        </p:nvSpPr>
        <p:spPr>
          <a:xfrm>
            <a:off x="8156448" y="34290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L03</a:t>
            </a:r>
            <a:endParaRPr lang="en-US" sz="1500" dirty="0"/>
          </a:p>
        </p:txBody>
      </p:sp>
      <p:sp>
        <p:nvSpPr>
          <p:cNvPr id="39" name="Categoria celda 1-1"/>
          <p:cNvSpPr txBox="1"/>
          <p:nvPr/>
        </p:nvSpPr>
        <p:spPr>
          <a:xfrm>
            <a:off x="8156448" y="374904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Ingeniería</a:t>
            </a:r>
            <a:endParaRPr lang="en-US" sz="1000" dirty="0"/>
          </a:p>
        </p:txBody>
      </p:sp>
      <p:sp>
        <p:nvSpPr>
          <p:cNvPr id="40" name="Celda 1-2"/>
          <p:cNvSpPr/>
          <p:nvPr/>
        </p:nvSpPr>
        <p:spPr>
          <a:xfrm>
            <a:off x="9272016" y="333756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1" name="Codigo celda 1-2"/>
          <p:cNvSpPr txBox="1"/>
          <p:nvPr/>
        </p:nvSpPr>
        <p:spPr>
          <a:xfrm>
            <a:off x="9272016" y="34290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L04</a:t>
            </a:r>
            <a:endParaRPr lang="en-US" sz="1500" dirty="0"/>
          </a:p>
        </p:txBody>
      </p:sp>
      <p:sp>
        <p:nvSpPr>
          <p:cNvPr id="42" name="Categoria celda 1-2"/>
          <p:cNvSpPr txBox="1"/>
          <p:nvPr/>
        </p:nvSpPr>
        <p:spPr>
          <a:xfrm>
            <a:off x="9272016" y="374904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Historia</a:t>
            </a:r>
            <a:endParaRPr lang="en-US" sz="1000" dirty="0"/>
          </a:p>
        </p:txBody>
      </p:sp>
      <p:sp>
        <p:nvSpPr>
          <p:cNvPr id="43" name="Hueco 1-3"/>
          <p:cNvSpPr/>
          <p:nvPr/>
        </p:nvSpPr>
        <p:spPr>
          <a:xfrm>
            <a:off x="10387584" y="3337560"/>
            <a:ext cx="978408" cy="731520"/>
          </a:xfrm>
          <a:prstGeom prst="roundRect">
            <a:avLst>
              <a:gd name="adj" fmla="val 12500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44" name="Etiqueta fila 3"/>
          <p:cNvSpPr txBox="1"/>
          <p:nvPr/>
        </p:nvSpPr>
        <p:spPr>
          <a:xfrm>
            <a:off x="502920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 · Quitar L03</a:t>
            </a:r>
            <a:endParaRPr lang="en-US" sz="1400" dirty="0"/>
          </a:p>
        </p:txBody>
      </p:sp>
      <p:sp>
        <p:nvSpPr>
          <p:cNvPr id="45" name="Detalle fila 3"/>
          <p:cNvSpPr txBox="1"/>
          <p:nvPr/>
        </p:nvSpPr>
        <p:spPr>
          <a:xfrm>
            <a:off x="5029200" y="4617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L04 se corre una posición</a:t>
            </a:r>
            <a:endParaRPr lang="en-US" sz="1100" dirty="0"/>
          </a:p>
        </p:txBody>
      </p:sp>
      <p:sp>
        <p:nvSpPr>
          <p:cNvPr id="46" name="Celda 2-0"/>
          <p:cNvSpPr/>
          <p:nvPr/>
        </p:nvSpPr>
        <p:spPr>
          <a:xfrm>
            <a:off x="7040880" y="434340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7" name="Codigo celda 2-0"/>
          <p:cNvSpPr txBox="1"/>
          <p:nvPr/>
        </p:nvSpPr>
        <p:spPr>
          <a:xfrm>
            <a:off x="7040880" y="443484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L02</a:t>
            </a:r>
            <a:endParaRPr lang="en-US" sz="1500" dirty="0"/>
          </a:p>
        </p:txBody>
      </p:sp>
      <p:sp>
        <p:nvSpPr>
          <p:cNvPr id="48" name="Categoria celda 2-0"/>
          <p:cNvSpPr txBox="1"/>
          <p:nvPr/>
        </p:nvSpPr>
        <p:spPr>
          <a:xfrm>
            <a:off x="7040880" y="475488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Literatura</a:t>
            </a:r>
            <a:endParaRPr lang="en-US" sz="1000" dirty="0"/>
          </a:p>
        </p:txBody>
      </p:sp>
      <p:sp>
        <p:nvSpPr>
          <p:cNvPr id="49" name="Celda 2-1"/>
          <p:cNvSpPr/>
          <p:nvPr/>
        </p:nvSpPr>
        <p:spPr>
          <a:xfrm>
            <a:off x="8156448" y="4343400"/>
            <a:ext cx="978408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0" name="Codigo celda 2-1"/>
          <p:cNvSpPr txBox="1"/>
          <p:nvPr/>
        </p:nvSpPr>
        <p:spPr>
          <a:xfrm>
            <a:off x="8156448" y="443484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L04</a:t>
            </a:r>
            <a:endParaRPr lang="en-US" sz="1500" dirty="0"/>
          </a:p>
        </p:txBody>
      </p:sp>
      <p:sp>
        <p:nvSpPr>
          <p:cNvPr id="51" name="Categoria celda 2-1"/>
          <p:cNvSpPr txBox="1"/>
          <p:nvPr/>
        </p:nvSpPr>
        <p:spPr>
          <a:xfrm>
            <a:off x="8156448" y="475488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Historia</a:t>
            </a:r>
            <a:endParaRPr lang="en-US" sz="1000" dirty="0"/>
          </a:p>
        </p:txBody>
      </p:sp>
      <p:sp>
        <p:nvSpPr>
          <p:cNvPr id="52" name="Hueco 2-2"/>
          <p:cNvSpPr/>
          <p:nvPr/>
        </p:nvSpPr>
        <p:spPr>
          <a:xfrm>
            <a:off x="9272016" y="4343400"/>
            <a:ext cx="978408" cy="731520"/>
          </a:xfrm>
          <a:prstGeom prst="roundRect">
            <a:avLst>
              <a:gd name="adj" fmla="val 12500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53" name="Hueco 2-3"/>
          <p:cNvSpPr/>
          <p:nvPr/>
        </p:nvSpPr>
        <p:spPr>
          <a:xfrm>
            <a:off x="10387584" y="4343400"/>
            <a:ext cx="978408" cy="731520"/>
          </a:xfrm>
          <a:prstGeom prst="roundRect">
            <a:avLst>
              <a:gd name="adj" fmla="val 12500"/>
            </a:avLst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54" name="Contador eliminados"/>
          <p:cNvSpPr txBox="1"/>
          <p:nvPr/>
        </p:nvSpPr>
        <p:spPr>
          <a:xfrm>
            <a:off x="5029200" y="54406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eliminados = 2</a:t>
            </a:r>
            <a:endParaRPr lang="en-US" sz="1500" dirty="0"/>
          </a:p>
        </p:txBody>
      </p:sp>
      <p:sp>
        <p:nvSpPr>
          <p:cNvPr id="55" name="Estado final"/>
          <p:cNvSpPr txBox="1"/>
          <p:nvPr/>
        </p:nvSpPr>
        <p:spPr>
          <a:xfrm>
            <a:off x="736092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Quedan L02 (Literatura) y L04 (Historia)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INCISO E  ·  LAZARO GABRIEL GARCIA ENRIQUEZ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Libro con más días de préstamo</a:t>
            </a:r>
            <a:endParaRPr lang="en-US" sz="3600" dirty="0"/>
          </a:p>
        </p:txBody>
      </p:sp>
      <p:sp>
        <p:nvSpPr>
          <p:cNvPr id="4" name="Firma del metodo"/>
          <p:cNvSpPr txBox="1"/>
          <p:nvPr/>
        </p:nvSpPr>
        <p:spPr>
          <a:xfrm>
            <a:off x="548640" y="1389888"/>
            <a:ext cx="256032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buscarLibroConMAsDias()</a:t>
            </a:r>
            <a:endParaRPr lang="en-US" sz="1200" dirty="0"/>
          </a:p>
        </p:txBody>
      </p:sp>
      <p:sp>
        <p:nvSpPr>
          <p:cNvPr id="5" name="Descripcion"/>
          <p:cNvSpPr txBox="1"/>
          <p:nvPr/>
        </p:nvSpPr>
        <p:spPr>
          <a:xfrm>
            <a:off x="54864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Devuelve el libro que tiene asignado el mayor tiempo de préstamo.</a:t>
            </a:r>
            <a:endParaRPr lang="en-US" sz="1600" dirty="0"/>
          </a:p>
        </p:txBody>
      </p:sp>
      <p:sp>
        <p:nvSpPr>
          <p:cNvPr id="6" name="Numero paso 1"/>
          <p:cNvSpPr txBox="1"/>
          <p:nvPr/>
        </p:nvSpPr>
        <p:spPr>
          <a:xfrm>
            <a:off x="548640" y="3017520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Paso 1"/>
          <p:cNvSpPr txBox="1"/>
          <p:nvPr/>
        </p:nvSpPr>
        <p:spPr>
          <a:xfrm>
            <a:off x="987552" y="2990088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Toma el primer libro como mejor candidato.</a:t>
            </a:r>
            <a:endParaRPr lang="en-US" sz="1400" dirty="0"/>
          </a:p>
        </p:txBody>
      </p:sp>
      <p:sp>
        <p:nvSpPr>
          <p:cNvPr id="8" name="Numero paso 2"/>
          <p:cNvSpPr txBox="1"/>
          <p:nvPr/>
        </p:nvSpPr>
        <p:spPr>
          <a:xfrm>
            <a:off x="548640" y="3648456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aso 2"/>
          <p:cNvSpPr txBox="1"/>
          <p:nvPr/>
        </p:nvSpPr>
        <p:spPr>
          <a:xfrm>
            <a:off x="987552" y="3621024"/>
            <a:ext cx="349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los demás: si uno tiene más días, pasa a ser el mejor.</a:t>
            </a:r>
            <a:endParaRPr lang="en-US" sz="1400" dirty="0"/>
          </a:p>
        </p:txBody>
      </p:sp>
      <p:sp>
        <p:nvSpPr>
          <p:cNvPr id="10" name="Numero paso 3"/>
          <p:cNvSpPr txBox="1"/>
          <p:nvPr/>
        </p:nvSpPr>
        <p:spPr>
          <a:xfrm>
            <a:off x="548640" y="4507992"/>
            <a:ext cx="3108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Paso 3"/>
          <p:cNvSpPr txBox="1"/>
          <p:nvPr/>
        </p:nvSpPr>
        <p:spPr>
          <a:xfrm>
            <a:off x="987552" y="44805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Devuelve el mejor al terminar.</a:t>
            </a:r>
            <a:endParaRPr lang="en-US" sz="1400" dirty="0"/>
          </a:p>
        </p:txBody>
      </p:sp>
      <p:sp>
        <p:nvSpPr>
          <p:cNvPr id="12" name="Tarjeta resultado"/>
          <p:cNvSpPr/>
          <p:nvPr/>
        </p:nvSpPr>
        <p:spPr>
          <a:xfrm>
            <a:off x="548640" y="5138928"/>
            <a:ext cx="3931920" cy="1078992"/>
          </a:xfrm>
          <a:prstGeom prst="roundRect">
            <a:avLst>
              <a:gd name="adj" fmla="val 11864"/>
            </a:avLst>
          </a:prstGeom>
          <a:solidFill>
            <a:schemeClr val="tx2"/>
          </a:solidFill>
          <a:ln/>
        </p:spPr>
      </p:sp>
      <p:sp>
        <p:nvSpPr>
          <p:cNvPr id="13" name="Etiqueta resultado"/>
          <p:cNvSpPr txBox="1"/>
          <p:nvPr/>
        </p:nvSpPr>
        <p:spPr>
          <a:xfrm>
            <a:off x="749808" y="5212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RESULTADO CON EL EJEMPLO</a:t>
            </a:r>
            <a:endParaRPr lang="en-US" sz="1000" dirty="0"/>
          </a:p>
        </p:txBody>
      </p:sp>
      <p:sp>
        <p:nvSpPr>
          <p:cNvPr id="14" name="Llamada"/>
          <p:cNvSpPr txBox="1"/>
          <p:nvPr/>
        </p:nvSpPr>
        <p:spPr>
          <a:xfrm>
            <a:off x="749808" y="5422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buscarLibroConMAsDias()</a:t>
            </a:r>
            <a:endParaRPr lang="en-US" sz="1100" dirty="0"/>
          </a:p>
        </p:txBody>
      </p:sp>
      <p:sp>
        <p:nvSpPr>
          <p:cNvPr id="15" name="Valor devuelto"/>
          <p:cNvSpPr txBox="1"/>
          <p:nvPr/>
        </p:nvSpPr>
        <p:spPr>
          <a:xfrm>
            <a:off x="749808" y="5669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L04 · Breve Historia Universal · 30 días</a:t>
            </a:r>
            <a:endParaRPr lang="en-US" sz="1400" dirty="0"/>
          </a:p>
        </p:txBody>
      </p:sp>
      <p:sp>
        <p:nvSpPr>
          <p:cNvPr id="16" name="Panel visual"/>
          <p:cNvSpPr/>
          <p:nvPr/>
        </p:nvSpPr>
        <p:spPr>
          <a:xfrm>
            <a:off x="4754880" y="2011680"/>
            <a:ext cx="6885432" cy="4206240"/>
          </a:xfrm>
          <a:prstGeom prst="roundRect">
            <a:avLst>
              <a:gd name="adj" fmla="val 3913"/>
            </a:avLst>
          </a:prstGeom>
          <a:solidFill>
            <a:schemeClr val="bg2"/>
          </a:solidFill>
          <a:ln/>
        </p:spPr>
      </p:sp>
      <p:sp>
        <p:nvSpPr>
          <p:cNvPr id="18" name="Barra L01"/>
          <p:cNvSpPr/>
          <p:nvPr/>
        </p:nvSpPr>
        <p:spPr>
          <a:xfrm>
            <a:off x="5303520" y="3611880"/>
            <a:ext cx="82296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9" name="Dias L01"/>
          <p:cNvSpPr txBox="1"/>
          <p:nvPr/>
        </p:nvSpPr>
        <p:spPr>
          <a:xfrm>
            <a:off x="5029200" y="3264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</a:t>
            </a:r>
            <a:endParaRPr lang="en-US" sz="1600" dirty="0"/>
          </a:p>
        </p:txBody>
      </p:sp>
      <p:sp>
        <p:nvSpPr>
          <p:cNvPr id="20" name="Codigo L01"/>
          <p:cNvSpPr txBox="1"/>
          <p:nvPr/>
        </p:nvSpPr>
        <p:spPr>
          <a:xfrm>
            <a:off x="5029200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L01</a:t>
            </a:r>
            <a:endParaRPr lang="en-US" sz="1400" dirty="0"/>
          </a:p>
        </p:txBody>
      </p:sp>
      <p:sp>
        <p:nvSpPr>
          <p:cNvPr id="21" name="Mejor tras L01"/>
          <p:cNvSpPr txBox="1"/>
          <p:nvPr/>
        </p:nvSpPr>
        <p:spPr>
          <a:xfrm>
            <a:off x="5029200" y="5138928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mejor: L01</a:t>
            </a:r>
            <a:endParaRPr lang="en-US" sz="1200" dirty="0"/>
          </a:p>
        </p:txBody>
      </p:sp>
      <p:sp>
        <p:nvSpPr>
          <p:cNvPr id="22" name="Comparacion L01"/>
          <p:cNvSpPr txBox="1"/>
          <p:nvPr/>
        </p:nvSpPr>
        <p:spPr>
          <a:xfrm>
            <a:off x="5029200" y="5559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inicio</a:t>
            </a:r>
            <a:endParaRPr lang="en-US" sz="1100" dirty="0"/>
          </a:p>
        </p:txBody>
      </p:sp>
      <p:sp>
        <p:nvSpPr>
          <p:cNvPr id="23" name="Barra L02"/>
          <p:cNvSpPr/>
          <p:nvPr/>
        </p:nvSpPr>
        <p:spPr>
          <a:xfrm>
            <a:off x="6958584" y="3953256"/>
            <a:ext cx="822960" cy="390144"/>
          </a:xfrm>
          <a:prstGeom prst="roundRect">
            <a:avLst>
              <a:gd name="adj" fmla="val 18750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4" name="Dias L02"/>
          <p:cNvSpPr txBox="1"/>
          <p:nvPr/>
        </p:nvSpPr>
        <p:spPr>
          <a:xfrm>
            <a:off x="6684264" y="3605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25" name="Codigo L02"/>
          <p:cNvSpPr txBox="1"/>
          <p:nvPr/>
        </p:nvSpPr>
        <p:spPr>
          <a:xfrm>
            <a:off x="6684264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L02</a:t>
            </a:r>
            <a:endParaRPr lang="en-US" sz="1400" dirty="0"/>
          </a:p>
        </p:txBody>
      </p:sp>
      <p:sp>
        <p:nvSpPr>
          <p:cNvPr id="26" name="Mejor tras L02"/>
          <p:cNvSpPr txBox="1"/>
          <p:nvPr/>
        </p:nvSpPr>
        <p:spPr>
          <a:xfrm>
            <a:off x="6684264" y="5138928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mejor: L01</a:t>
            </a:r>
            <a:endParaRPr lang="en-US" sz="1200" dirty="0"/>
          </a:p>
        </p:txBody>
      </p:sp>
      <p:sp>
        <p:nvSpPr>
          <p:cNvPr id="27" name="Comparacion L02"/>
          <p:cNvSpPr txBox="1"/>
          <p:nvPr/>
        </p:nvSpPr>
        <p:spPr>
          <a:xfrm>
            <a:off x="6684264" y="5559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8 &gt; 15: no</a:t>
            </a:r>
            <a:endParaRPr lang="en-US" sz="1100" dirty="0"/>
          </a:p>
        </p:txBody>
      </p:sp>
      <p:sp>
        <p:nvSpPr>
          <p:cNvPr id="28" name="Barra L03"/>
          <p:cNvSpPr/>
          <p:nvPr/>
        </p:nvSpPr>
        <p:spPr>
          <a:xfrm>
            <a:off x="8613648" y="3270504"/>
            <a:ext cx="822960" cy="1072896"/>
          </a:xfrm>
          <a:prstGeom prst="roundRect">
            <a:avLst>
              <a:gd name="adj" fmla="val 8889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9" name="Dias L03"/>
          <p:cNvSpPr txBox="1"/>
          <p:nvPr/>
        </p:nvSpPr>
        <p:spPr>
          <a:xfrm>
            <a:off x="8339328" y="29230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22</a:t>
            </a:r>
            <a:endParaRPr lang="en-US" sz="1600" dirty="0"/>
          </a:p>
        </p:txBody>
      </p:sp>
      <p:sp>
        <p:nvSpPr>
          <p:cNvPr id="30" name="Codigo L03"/>
          <p:cNvSpPr txBox="1"/>
          <p:nvPr/>
        </p:nvSpPr>
        <p:spPr>
          <a:xfrm>
            <a:off x="8339328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L03</a:t>
            </a:r>
            <a:endParaRPr lang="en-US" sz="1400" dirty="0"/>
          </a:p>
        </p:txBody>
      </p:sp>
      <p:sp>
        <p:nvSpPr>
          <p:cNvPr id="31" name="Mejor tras L03"/>
          <p:cNvSpPr txBox="1"/>
          <p:nvPr/>
        </p:nvSpPr>
        <p:spPr>
          <a:xfrm>
            <a:off x="8339328" y="5138928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mejor: L03</a:t>
            </a:r>
            <a:endParaRPr lang="en-US" sz="1200" dirty="0"/>
          </a:p>
        </p:txBody>
      </p:sp>
      <p:sp>
        <p:nvSpPr>
          <p:cNvPr id="32" name="Comparacion L03"/>
          <p:cNvSpPr txBox="1"/>
          <p:nvPr/>
        </p:nvSpPr>
        <p:spPr>
          <a:xfrm>
            <a:off x="8339328" y="5559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22 &gt; 15: sí</a:t>
            </a:r>
            <a:endParaRPr lang="en-US" sz="1100" dirty="0"/>
          </a:p>
        </p:txBody>
      </p:sp>
      <p:sp>
        <p:nvSpPr>
          <p:cNvPr id="33" name="Barra L04"/>
          <p:cNvSpPr/>
          <p:nvPr/>
        </p:nvSpPr>
        <p:spPr>
          <a:xfrm>
            <a:off x="10268712" y="2880360"/>
            <a:ext cx="822960" cy="14630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34" name="Dias L04"/>
          <p:cNvSpPr txBox="1"/>
          <p:nvPr/>
        </p:nvSpPr>
        <p:spPr>
          <a:xfrm>
            <a:off x="9994392" y="2532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30</a:t>
            </a:r>
            <a:endParaRPr lang="en-US" sz="1600" dirty="0"/>
          </a:p>
        </p:txBody>
      </p:sp>
      <p:sp>
        <p:nvSpPr>
          <p:cNvPr id="35" name="Codigo L04"/>
          <p:cNvSpPr txBox="1"/>
          <p:nvPr/>
        </p:nvSpPr>
        <p:spPr>
          <a:xfrm>
            <a:off x="9994392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L04</a:t>
            </a:r>
            <a:endParaRPr lang="en-US" sz="1400" dirty="0"/>
          </a:p>
        </p:txBody>
      </p:sp>
      <p:sp>
        <p:nvSpPr>
          <p:cNvPr id="36" name="Mejor tras L04"/>
          <p:cNvSpPr txBox="1"/>
          <p:nvPr/>
        </p:nvSpPr>
        <p:spPr>
          <a:xfrm>
            <a:off x="9994392" y="5138928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mejor: L04</a:t>
            </a:r>
            <a:endParaRPr lang="en-US" sz="1200" dirty="0"/>
          </a:p>
        </p:txBody>
      </p:sp>
      <p:sp>
        <p:nvSpPr>
          <p:cNvPr id="37" name="Comparacion L04"/>
          <p:cNvSpPr txBox="1"/>
          <p:nvPr/>
        </p:nvSpPr>
        <p:spPr>
          <a:xfrm>
            <a:off x="9994392" y="5559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30 &gt; 22: sí</a:t>
            </a:r>
            <a:endParaRPr lang="en-US" sz="1100" dirty="0"/>
          </a:p>
        </p:txBody>
      </p:sp>
      <p:pic>
        <p:nvPicPr>
          <p:cNvPr id="38" name="Image 0" descr="mayor tiempo de présta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2103120"/>
            <a:ext cx="365760" cy="365760"/>
          </a:xfrm>
          <a:prstGeom prst="rect">
            <a:avLst/>
          </a:prstGeom>
        </p:spPr>
      </p:pic>
      <p:sp>
        <p:nvSpPr>
          <p:cNvPr id="39" name="Etiqueta mejor"/>
          <p:cNvSpPr txBox="1"/>
          <p:nvPr/>
        </p:nvSpPr>
        <p:spPr>
          <a:xfrm>
            <a:off x="5029200" y="48006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mejorLibro después de revisar cada libro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e seccion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RESUMEN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 catálogo, cinco métodos</a:t>
            </a:r>
            <a:endParaRPr lang="en-US" sz="3600" dirty="0"/>
          </a:p>
        </p:txBody>
      </p:sp>
      <p:graphicFrame>
        <p:nvGraphicFramePr>
          <p:cNvPr id="10" name="Tabla resum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4297680"/>
                <a:gridCol w="3776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Inciso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Patrón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Llamada con el ejemplo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2"/>
                          </a:solidFill>
                        </a:rPr>
                        <a:t>a</a:t>
                      </a:r>
                      <a:endParaRPr lang="en-US" sz="2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Filtrar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librosVencidos(20)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["Estructuras de Datos", "Breve Historia Universal"]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2"/>
                          </a:solidFill>
                        </a:rPr>
                        <a:t>b</a:t>
                      </a:r>
                      <a:endParaRPr lang="en-US" sz="2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Acumular y dividir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promedioDiasPorCategoria("Ingeniería")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   (37 / 2, división entera)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2"/>
                          </a:solidFill>
                        </a:rPr>
                        <a:t>c</a:t>
                      </a:r>
                      <a:endParaRPr lang="en-US" sz="2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Buscar y modificar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renovarPrestamo("L02", 7)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true   ·   L02 pasa de 8 a 15 días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2"/>
                          </a:solidFill>
                        </a:rPr>
                        <a:t>d</a:t>
                      </a:r>
                      <a:endParaRPr lang="en-US" sz="2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Recorrer y eliminar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EliminarLibrosPorCategoria("Ingeniería")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  ·   quedan L02 y L04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2"/>
                          </a:solidFill>
                        </a:rPr>
                        <a:t>e</a:t>
                      </a:r>
                      <a:endParaRPr lang="en-US" sz="22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Mantener el máximo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buscarLibroConMAsDias()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L04  ·  Breve Historia Universal  ·  30 días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tiqueta catalogo"/>
          <p:cNvSpPr txBox="1"/>
          <p:nvPr/>
        </p:nvSpPr>
        <p:spPr>
          <a:xfrm>
            <a:off x="548640" y="5897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Catálogo de partida:</a:t>
            </a:r>
            <a:endParaRPr lang="en-US" sz="1300" dirty="0"/>
          </a:p>
        </p:txBody>
      </p:sp>
      <p:sp>
        <p:nvSpPr>
          <p:cNvPr id="6" name="Chip L01"/>
          <p:cNvSpPr txBox="1"/>
          <p:nvPr/>
        </p:nvSpPr>
        <p:spPr>
          <a:xfrm>
            <a:off x="2331720" y="589788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L01  ·  15 días</a:t>
            </a:r>
            <a:endParaRPr lang="en-US" sz="1200" dirty="0"/>
          </a:p>
        </p:txBody>
      </p:sp>
      <p:sp>
        <p:nvSpPr>
          <p:cNvPr id="7" name="Chip L02"/>
          <p:cNvSpPr txBox="1"/>
          <p:nvPr/>
        </p:nvSpPr>
        <p:spPr>
          <a:xfrm>
            <a:off x="3931920" y="589788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L02  ·  8 días</a:t>
            </a:r>
            <a:endParaRPr lang="en-US" sz="1200" dirty="0"/>
          </a:p>
        </p:txBody>
      </p:sp>
      <p:sp>
        <p:nvSpPr>
          <p:cNvPr id="8" name="Chip L03"/>
          <p:cNvSpPr txBox="1"/>
          <p:nvPr/>
        </p:nvSpPr>
        <p:spPr>
          <a:xfrm>
            <a:off x="5532120" y="589788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L03  ·  22 días</a:t>
            </a:r>
            <a:endParaRPr lang="en-US" sz="1200" dirty="0"/>
          </a:p>
        </p:txBody>
      </p:sp>
      <p:sp>
        <p:nvSpPr>
          <p:cNvPr id="9" name="Chip L04"/>
          <p:cNvSpPr txBox="1"/>
          <p:nvPr/>
        </p:nvSpPr>
        <p:spPr>
          <a:xfrm>
            <a:off x="7132320" y="589788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L04  ·  30 días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2823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blioTech Verde">
  <a:themeElements>
    <a:clrScheme name="BiblioTech Verde">
      <a:dk1>
        <a:srgbClr val="10231A"/>
      </a:dk1>
      <a:lt1>
        <a:srgbClr val="FFFFFF"/>
      </a:lt1>
      <a:dk2>
        <a:srgbClr val="14532D"/>
      </a:dk2>
      <a:lt2>
        <a:srgbClr val="F1F7F3"/>
      </a:lt2>
      <a:accent1>
        <a:srgbClr val="16A34A"/>
      </a:accent1>
      <a:accent2>
        <a:srgbClr val="15803D"/>
      </a:accent2>
      <a:accent3>
        <a:srgbClr val="86EFAC"/>
      </a:accent3>
      <a:accent4>
        <a:srgbClr val="DCFCE7"/>
      </a:accent4>
      <a:accent5>
        <a:srgbClr val="5B6B63"/>
      </a:accent5>
      <a:accent6>
        <a:srgbClr val="D92D20"/>
      </a:accent6>
      <a:hlink>
        <a:srgbClr val="15803D"/>
      </a:hlink>
      <a:folHlink>
        <a:srgbClr val="5B6B63"/>
      </a:folHlink>
    </a:clrScheme>
    <a:fontScheme name="BiblioTech Ver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BiblioTech - Módulo de préstamos</dc:title>
  <dc:subject>Estructura de datos: ArrayList</dc:subject>
  <dc:creator>Equipo 4</dc:creator>
  <cp:lastModifiedBy>Equipo 4</cp:lastModifiedBy>
  <cp:revision>1</cp:revision>
  <dcterms:created xsi:type="dcterms:W3CDTF">2026-10-13T20:01:17Z</dcterms:created>
  <dcterms:modified xsi:type="dcterms:W3CDTF">2026-10-13T20:01:17Z</dcterms:modified>
</cp:coreProperties>
</file>